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17"/>
  </p:handoutMasterIdLst>
  <p:sldIdLst>
    <p:sldId id="271" r:id="rId5"/>
    <p:sldId id="257" r:id="rId7"/>
    <p:sldId id="258" r:id="rId8"/>
    <p:sldId id="259" r:id="rId9"/>
    <p:sldId id="266" r:id="rId10"/>
    <p:sldId id="260" r:id="rId11"/>
    <p:sldId id="261" r:id="rId12"/>
    <p:sldId id="262" r:id="rId13"/>
    <p:sldId id="263" r:id="rId14"/>
    <p:sldId id="264" r:id="rId15"/>
    <p:sldId id="27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BF5"/>
    <a:srgbClr val="4ECDC4"/>
    <a:srgbClr val="FFA62B"/>
    <a:srgbClr val="666666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01" autoAdjust="0"/>
    <p:restoredTop sz="94660"/>
  </p:normalViewPr>
  <p:slideViewPr>
    <p:cSldViewPr snapToGrid="0">
      <p:cViewPr varScale="1">
        <p:scale>
          <a:sx n="80" d="100"/>
          <a:sy n="80" d="100"/>
        </p:scale>
        <p:origin x="5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E4899D-92D0-4A4F-849B-DDDC86C5278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6B25799-CF57-4CCE-ACBF-DE40AB7D0D2B}">
      <dgm:prSet phldrT="[文本]"/>
      <dgm:spPr/>
      <dgm:t>
        <a:bodyPr/>
        <a:lstStyle/>
        <a:p>
          <a:r>
            <a:rPr lang="zh-CN" altLang="en-US" dirty="0"/>
            <a:t>数据输入</a:t>
          </a:r>
        </a:p>
      </dgm:t>
    </dgm:pt>
    <dgm:pt modelId="{BA82F20D-5841-4597-9201-FADB2CFD51A6}" cxnId="{8D04468F-B014-4E70-AF51-E2AD3C251473}" type="parTrans">
      <dgm:prSet/>
      <dgm:spPr/>
      <dgm:t>
        <a:bodyPr/>
        <a:lstStyle/>
        <a:p>
          <a:endParaRPr lang="zh-CN" altLang="en-US"/>
        </a:p>
      </dgm:t>
    </dgm:pt>
    <dgm:pt modelId="{70C03D6E-4BF9-403D-935E-2B92768B445F}" cxnId="{8D04468F-B014-4E70-AF51-E2AD3C251473}" type="sibTrans">
      <dgm:prSet/>
      <dgm:spPr/>
      <dgm:t>
        <a:bodyPr/>
        <a:lstStyle/>
        <a:p>
          <a:endParaRPr lang="zh-CN" altLang="en-US"/>
        </a:p>
      </dgm:t>
    </dgm:pt>
    <dgm:pt modelId="{4BDF1078-0AAF-4E11-9ADC-CB3573D8DEDC}">
      <dgm:prSet phldrT="[文本]"/>
      <dgm:spPr/>
      <dgm:t>
        <a:bodyPr/>
        <a:lstStyle/>
        <a:p>
          <a:r>
            <a:rPr lang="zh-CN" altLang="en-US" dirty="0"/>
            <a:t>套利执行</a:t>
          </a:r>
        </a:p>
      </dgm:t>
    </dgm:pt>
    <dgm:pt modelId="{923E68C0-51E6-4530-BC1C-6B205AFCA32B}" cxnId="{A832CFFA-4063-4EDF-8035-E4148DFEFCDF}" type="parTrans">
      <dgm:prSet/>
      <dgm:spPr/>
      <dgm:t>
        <a:bodyPr/>
        <a:lstStyle/>
        <a:p>
          <a:endParaRPr lang="zh-CN" altLang="en-US"/>
        </a:p>
      </dgm:t>
    </dgm:pt>
    <dgm:pt modelId="{62F783EF-E816-4AA6-A83F-63D79ABA9A5B}" cxnId="{A832CFFA-4063-4EDF-8035-E4148DFEFCDF}" type="sibTrans">
      <dgm:prSet/>
      <dgm:spPr/>
      <dgm:t>
        <a:bodyPr/>
        <a:lstStyle/>
        <a:p>
          <a:endParaRPr lang="zh-CN" altLang="en-US"/>
        </a:p>
      </dgm:t>
    </dgm:pt>
    <dgm:pt modelId="{93EB6A67-D214-421D-AD05-B27F8DB6D8A6}">
      <dgm:prSet phldrT="[文本]"/>
      <dgm:spPr/>
      <dgm:t>
        <a:bodyPr/>
        <a:lstStyle/>
        <a:p>
          <a:r>
            <a:rPr lang="zh-CN" altLang="en-US" dirty="0"/>
            <a:t>收益分发</a:t>
          </a:r>
        </a:p>
      </dgm:t>
    </dgm:pt>
    <dgm:pt modelId="{82F24B61-5C13-413D-8A63-49AC9185EEAC}" cxnId="{DB43A2D2-8801-48C4-A6C8-6EF09ECFC481}" type="parTrans">
      <dgm:prSet/>
      <dgm:spPr/>
      <dgm:t>
        <a:bodyPr/>
        <a:lstStyle/>
        <a:p>
          <a:endParaRPr lang="zh-CN" altLang="en-US"/>
        </a:p>
      </dgm:t>
    </dgm:pt>
    <dgm:pt modelId="{0309BB71-5283-4E4A-A065-A9AF8CB87F42}" cxnId="{DB43A2D2-8801-48C4-A6C8-6EF09ECFC481}" type="sibTrans">
      <dgm:prSet/>
      <dgm:spPr/>
      <dgm:t>
        <a:bodyPr/>
        <a:lstStyle/>
        <a:p>
          <a:endParaRPr lang="zh-CN" altLang="en-US"/>
        </a:p>
      </dgm:t>
    </dgm:pt>
    <dgm:pt modelId="{866E37EA-4994-4450-9DC6-820411B31352}">
      <dgm:prSet/>
      <dgm:spPr/>
      <dgm:t>
        <a:bodyPr/>
        <a:lstStyle/>
        <a:p>
          <a:r>
            <a:rPr lang="zh-CN" altLang="en-US" dirty="0"/>
            <a:t>价格对比</a:t>
          </a:r>
        </a:p>
      </dgm:t>
    </dgm:pt>
    <dgm:pt modelId="{E1333900-143B-45AB-AD3C-9060C5B90B8A}" cxnId="{0BADEBA8-AC7D-4A98-A290-A8B144519079}" type="parTrans">
      <dgm:prSet/>
      <dgm:spPr/>
      <dgm:t>
        <a:bodyPr/>
        <a:lstStyle/>
        <a:p>
          <a:endParaRPr lang="zh-CN" altLang="en-US"/>
        </a:p>
      </dgm:t>
    </dgm:pt>
    <dgm:pt modelId="{CF2C5964-B5BF-4167-B59D-1BDFB1E7EB5A}" cxnId="{0BADEBA8-AC7D-4A98-A290-A8B144519079}" type="sibTrans">
      <dgm:prSet/>
      <dgm:spPr/>
      <dgm:t>
        <a:bodyPr/>
        <a:lstStyle/>
        <a:p>
          <a:endParaRPr lang="zh-CN" altLang="en-US"/>
        </a:p>
      </dgm:t>
    </dgm:pt>
    <dgm:pt modelId="{43861758-3EB9-4C55-B6FA-3FEED6382AAF}">
      <dgm:prSet/>
      <dgm:spPr/>
      <dgm:t>
        <a:bodyPr/>
        <a:lstStyle/>
        <a:p>
          <a:r>
            <a:rPr lang="en-US" altLang="zh-CN" dirty="0"/>
            <a:t>AI</a:t>
          </a:r>
          <a:r>
            <a:rPr lang="zh-CN" altLang="en-US" dirty="0"/>
            <a:t>模型</a:t>
          </a:r>
        </a:p>
      </dgm:t>
    </dgm:pt>
    <dgm:pt modelId="{B8D55CD6-8EBE-452A-9198-31084F1224AD}" cxnId="{E07E13E5-CD98-4F56-9BF5-71B88A07280B}" type="sibTrans">
      <dgm:prSet/>
      <dgm:spPr/>
      <dgm:t>
        <a:bodyPr/>
        <a:lstStyle/>
        <a:p>
          <a:endParaRPr lang="zh-CN" altLang="en-US"/>
        </a:p>
      </dgm:t>
    </dgm:pt>
    <dgm:pt modelId="{5C74A606-A32C-4824-9ADB-E99C20366FFE}" cxnId="{E07E13E5-CD98-4F56-9BF5-71B88A07280B}" type="parTrans">
      <dgm:prSet/>
      <dgm:spPr/>
      <dgm:t>
        <a:bodyPr/>
        <a:lstStyle/>
        <a:p>
          <a:endParaRPr lang="zh-CN" altLang="en-US"/>
        </a:p>
      </dgm:t>
    </dgm:pt>
    <dgm:pt modelId="{1F982268-9792-4053-A1C6-229BDAA31246}" type="pres">
      <dgm:prSet presAssocID="{65E4899D-92D0-4A4F-849B-DDDC86C52786}" presName="Name0" presStyleCnt="0">
        <dgm:presLayoutVars>
          <dgm:dir/>
          <dgm:resizeHandles val="exact"/>
        </dgm:presLayoutVars>
      </dgm:prSet>
      <dgm:spPr/>
    </dgm:pt>
    <dgm:pt modelId="{99F28A1C-AD82-4BC5-B92B-813246F787CB}" type="pres">
      <dgm:prSet presAssocID="{46B25799-CF57-4CCE-ACBF-DE40AB7D0D2B}" presName="node" presStyleLbl="node1" presStyleIdx="0" presStyleCnt="5">
        <dgm:presLayoutVars>
          <dgm:bulletEnabled val="1"/>
        </dgm:presLayoutVars>
      </dgm:prSet>
      <dgm:spPr/>
    </dgm:pt>
    <dgm:pt modelId="{EA5427BA-FCE3-436C-A587-FC6A8BA6577F}" type="pres">
      <dgm:prSet presAssocID="{70C03D6E-4BF9-403D-935E-2B92768B445F}" presName="sibTrans" presStyleLbl="sibTrans2D1" presStyleIdx="0" presStyleCnt="4"/>
      <dgm:spPr/>
    </dgm:pt>
    <dgm:pt modelId="{1A079401-C499-4E72-A9FB-0279B767785B}" type="pres">
      <dgm:prSet presAssocID="{70C03D6E-4BF9-403D-935E-2B92768B445F}" presName="connectorText" presStyleLbl="sibTrans2D1" presStyleIdx="0" presStyleCnt="4"/>
      <dgm:spPr/>
    </dgm:pt>
    <dgm:pt modelId="{F1264237-1928-4F7A-A064-6808AAB0D175}" type="pres">
      <dgm:prSet presAssocID="{43861758-3EB9-4C55-B6FA-3FEED6382AAF}" presName="node" presStyleLbl="node1" presStyleIdx="1" presStyleCnt="5">
        <dgm:presLayoutVars>
          <dgm:bulletEnabled val="1"/>
        </dgm:presLayoutVars>
      </dgm:prSet>
      <dgm:spPr/>
    </dgm:pt>
    <dgm:pt modelId="{F3567251-83DC-4EC6-BB37-62F4EF1B556C}" type="pres">
      <dgm:prSet presAssocID="{B8D55CD6-8EBE-452A-9198-31084F1224AD}" presName="sibTrans" presStyleLbl="sibTrans2D1" presStyleIdx="1" presStyleCnt="4"/>
      <dgm:spPr/>
    </dgm:pt>
    <dgm:pt modelId="{299CBF6B-53DC-43FC-91EC-85EEB6E9018E}" type="pres">
      <dgm:prSet presAssocID="{B8D55CD6-8EBE-452A-9198-31084F1224AD}" presName="connectorText" presStyleLbl="sibTrans2D1" presStyleIdx="1" presStyleCnt="4"/>
      <dgm:spPr/>
    </dgm:pt>
    <dgm:pt modelId="{7DCE0DDA-F512-495F-A8BA-BA9A3BD92FB3}" type="pres">
      <dgm:prSet presAssocID="{866E37EA-4994-4450-9DC6-820411B31352}" presName="node" presStyleLbl="node1" presStyleIdx="2" presStyleCnt="5" custLinFactNeighborX="0" custLinFactNeighborY="-801">
        <dgm:presLayoutVars>
          <dgm:bulletEnabled val="1"/>
        </dgm:presLayoutVars>
      </dgm:prSet>
      <dgm:spPr/>
    </dgm:pt>
    <dgm:pt modelId="{F2E96D6A-A009-49CB-A102-3611690BDF2A}" type="pres">
      <dgm:prSet presAssocID="{CF2C5964-B5BF-4167-B59D-1BDFB1E7EB5A}" presName="sibTrans" presStyleLbl="sibTrans2D1" presStyleIdx="2" presStyleCnt="4"/>
      <dgm:spPr/>
    </dgm:pt>
    <dgm:pt modelId="{D8D1E778-1F96-4C44-8366-E15B1E781F8F}" type="pres">
      <dgm:prSet presAssocID="{CF2C5964-B5BF-4167-B59D-1BDFB1E7EB5A}" presName="connectorText" presStyleLbl="sibTrans2D1" presStyleIdx="2" presStyleCnt="4"/>
      <dgm:spPr/>
    </dgm:pt>
    <dgm:pt modelId="{BA713800-D4A0-4B80-8016-D93FFCA180B5}" type="pres">
      <dgm:prSet presAssocID="{4BDF1078-0AAF-4E11-9ADC-CB3573D8DEDC}" presName="node" presStyleLbl="node1" presStyleIdx="3" presStyleCnt="5">
        <dgm:presLayoutVars>
          <dgm:bulletEnabled val="1"/>
        </dgm:presLayoutVars>
      </dgm:prSet>
      <dgm:spPr/>
    </dgm:pt>
    <dgm:pt modelId="{AB9CD4CC-A93B-45AF-B824-2F8CB17D6CAA}" type="pres">
      <dgm:prSet presAssocID="{62F783EF-E816-4AA6-A83F-63D79ABA9A5B}" presName="sibTrans" presStyleLbl="sibTrans2D1" presStyleIdx="3" presStyleCnt="4"/>
      <dgm:spPr/>
    </dgm:pt>
    <dgm:pt modelId="{A8C8C495-43BE-4675-8329-0308E1690722}" type="pres">
      <dgm:prSet presAssocID="{62F783EF-E816-4AA6-A83F-63D79ABA9A5B}" presName="connectorText" presStyleLbl="sibTrans2D1" presStyleIdx="3" presStyleCnt="4"/>
      <dgm:spPr/>
    </dgm:pt>
    <dgm:pt modelId="{E0A4E537-9139-4D27-A1C6-B706CF49B59F}" type="pres">
      <dgm:prSet presAssocID="{93EB6A67-D214-421D-AD05-B27F8DB6D8A6}" presName="node" presStyleLbl="node1" presStyleIdx="4" presStyleCnt="5">
        <dgm:presLayoutVars>
          <dgm:bulletEnabled val="1"/>
        </dgm:presLayoutVars>
      </dgm:prSet>
      <dgm:spPr/>
    </dgm:pt>
  </dgm:ptLst>
  <dgm:cxnLst>
    <dgm:cxn modelId="{ABBAA305-D588-4330-9A28-B8C09437E2CD}" type="presOf" srcId="{62F783EF-E816-4AA6-A83F-63D79ABA9A5B}" destId="{A8C8C495-43BE-4675-8329-0308E1690722}" srcOrd="1" destOrd="0" presId="urn:microsoft.com/office/officeart/2005/8/layout/process1"/>
    <dgm:cxn modelId="{90343F07-8160-4FB6-94A7-7D46D16FE391}" type="presOf" srcId="{B8D55CD6-8EBE-452A-9198-31084F1224AD}" destId="{F3567251-83DC-4EC6-BB37-62F4EF1B556C}" srcOrd="0" destOrd="0" presId="urn:microsoft.com/office/officeart/2005/8/layout/process1"/>
    <dgm:cxn modelId="{AE7E8031-81F3-4A92-8CD2-040DBFDB4B9B}" type="presOf" srcId="{70C03D6E-4BF9-403D-935E-2B92768B445F}" destId="{EA5427BA-FCE3-436C-A587-FC6A8BA6577F}" srcOrd="0" destOrd="0" presId="urn:microsoft.com/office/officeart/2005/8/layout/process1"/>
    <dgm:cxn modelId="{D6958032-1401-4119-ADA1-176974840CDE}" type="presOf" srcId="{CF2C5964-B5BF-4167-B59D-1BDFB1E7EB5A}" destId="{F2E96D6A-A009-49CB-A102-3611690BDF2A}" srcOrd="0" destOrd="0" presId="urn:microsoft.com/office/officeart/2005/8/layout/process1"/>
    <dgm:cxn modelId="{89CD9F33-1A96-4619-BAC5-3DDD0BAC746C}" type="presOf" srcId="{B8D55CD6-8EBE-452A-9198-31084F1224AD}" destId="{299CBF6B-53DC-43FC-91EC-85EEB6E9018E}" srcOrd="1" destOrd="0" presId="urn:microsoft.com/office/officeart/2005/8/layout/process1"/>
    <dgm:cxn modelId="{7FC66F61-F616-4801-82B4-929C98B851C3}" type="presOf" srcId="{93EB6A67-D214-421D-AD05-B27F8DB6D8A6}" destId="{E0A4E537-9139-4D27-A1C6-B706CF49B59F}" srcOrd="0" destOrd="0" presId="urn:microsoft.com/office/officeart/2005/8/layout/process1"/>
    <dgm:cxn modelId="{AB6CCC66-E76F-4A1D-A896-2F3DCC7A98BB}" type="presOf" srcId="{62F783EF-E816-4AA6-A83F-63D79ABA9A5B}" destId="{AB9CD4CC-A93B-45AF-B824-2F8CB17D6CAA}" srcOrd="0" destOrd="0" presId="urn:microsoft.com/office/officeart/2005/8/layout/process1"/>
    <dgm:cxn modelId="{A48B6B47-5BA6-4053-987B-21F7AABCB04C}" type="presOf" srcId="{4BDF1078-0AAF-4E11-9ADC-CB3573D8DEDC}" destId="{BA713800-D4A0-4B80-8016-D93FFCA180B5}" srcOrd="0" destOrd="0" presId="urn:microsoft.com/office/officeart/2005/8/layout/process1"/>
    <dgm:cxn modelId="{A51D2689-2114-4BCD-B2A4-F64A50E193F1}" type="presOf" srcId="{65E4899D-92D0-4A4F-849B-DDDC86C52786}" destId="{1F982268-9792-4053-A1C6-229BDAA31246}" srcOrd="0" destOrd="0" presId="urn:microsoft.com/office/officeart/2005/8/layout/process1"/>
    <dgm:cxn modelId="{8D04468F-B014-4E70-AF51-E2AD3C251473}" srcId="{65E4899D-92D0-4A4F-849B-DDDC86C52786}" destId="{46B25799-CF57-4CCE-ACBF-DE40AB7D0D2B}" srcOrd="0" destOrd="0" parTransId="{BA82F20D-5841-4597-9201-FADB2CFD51A6}" sibTransId="{70C03D6E-4BF9-403D-935E-2B92768B445F}"/>
    <dgm:cxn modelId="{D392FC95-7350-4C44-9EA1-AE13D8865D19}" type="presOf" srcId="{70C03D6E-4BF9-403D-935E-2B92768B445F}" destId="{1A079401-C499-4E72-A9FB-0279B767785B}" srcOrd="1" destOrd="0" presId="urn:microsoft.com/office/officeart/2005/8/layout/process1"/>
    <dgm:cxn modelId="{2862E79B-FE3F-473E-B163-8F11AA9EB388}" type="presOf" srcId="{46B25799-CF57-4CCE-ACBF-DE40AB7D0D2B}" destId="{99F28A1C-AD82-4BC5-B92B-813246F787CB}" srcOrd="0" destOrd="0" presId="urn:microsoft.com/office/officeart/2005/8/layout/process1"/>
    <dgm:cxn modelId="{0BADEBA8-AC7D-4A98-A290-A8B144519079}" srcId="{65E4899D-92D0-4A4F-849B-DDDC86C52786}" destId="{866E37EA-4994-4450-9DC6-820411B31352}" srcOrd="2" destOrd="0" parTransId="{E1333900-143B-45AB-AD3C-9060C5B90B8A}" sibTransId="{CF2C5964-B5BF-4167-B59D-1BDFB1E7EB5A}"/>
    <dgm:cxn modelId="{2DE7DCA9-C8AC-468A-9809-7A9B9E13E9D4}" type="presOf" srcId="{866E37EA-4994-4450-9DC6-820411B31352}" destId="{7DCE0DDA-F512-495F-A8BA-BA9A3BD92FB3}" srcOrd="0" destOrd="0" presId="urn:microsoft.com/office/officeart/2005/8/layout/process1"/>
    <dgm:cxn modelId="{D2EBF9CA-03F5-4388-85F8-4195E3A07EDB}" type="presOf" srcId="{CF2C5964-B5BF-4167-B59D-1BDFB1E7EB5A}" destId="{D8D1E778-1F96-4C44-8366-E15B1E781F8F}" srcOrd="1" destOrd="0" presId="urn:microsoft.com/office/officeart/2005/8/layout/process1"/>
    <dgm:cxn modelId="{DB43A2D2-8801-48C4-A6C8-6EF09ECFC481}" srcId="{65E4899D-92D0-4A4F-849B-DDDC86C52786}" destId="{93EB6A67-D214-421D-AD05-B27F8DB6D8A6}" srcOrd="4" destOrd="0" parTransId="{82F24B61-5C13-413D-8A63-49AC9185EEAC}" sibTransId="{0309BB71-5283-4E4A-A065-A9AF8CB87F42}"/>
    <dgm:cxn modelId="{E07E13E5-CD98-4F56-9BF5-71B88A07280B}" srcId="{65E4899D-92D0-4A4F-849B-DDDC86C52786}" destId="{43861758-3EB9-4C55-B6FA-3FEED6382AAF}" srcOrd="1" destOrd="0" parTransId="{5C74A606-A32C-4824-9ADB-E99C20366FFE}" sibTransId="{B8D55CD6-8EBE-452A-9198-31084F1224AD}"/>
    <dgm:cxn modelId="{59DF06F7-EC03-4206-A1F1-789CB7BFABBF}" type="presOf" srcId="{43861758-3EB9-4C55-B6FA-3FEED6382AAF}" destId="{F1264237-1928-4F7A-A064-6808AAB0D175}" srcOrd="0" destOrd="0" presId="urn:microsoft.com/office/officeart/2005/8/layout/process1"/>
    <dgm:cxn modelId="{A832CFFA-4063-4EDF-8035-E4148DFEFCDF}" srcId="{65E4899D-92D0-4A4F-849B-DDDC86C52786}" destId="{4BDF1078-0AAF-4E11-9ADC-CB3573D8DEDC}" srcOrd="3" destOrd="0" parTransId="{923E68C0-51E6-4530-BC1C-6B205AFCA32B}" sibTransId="{62F783EF-E816-4AA6-A83F-63D79ABA9A5B}"/>
    <dgm:cxn modelId="{6DFAADEB-C17C-4A9D-BDFA-E748BF4AC3C1}" type="presParOf" srcId="{1F982268-9792-4053-A1C6-229BDAA31246}" destId="{99F28A1C-AD82-4BC5-B92B-813246F787CB}" srcOrd="0" destOrd="0" presId="urn:microsoft.com/office/officeart/2005/8/layout/process1"/>
    <dgm:cxn modelId="{2164A0A0-32FF-43BB-92CA-00ABD461ED5F}" type="presParOf" srcId="{1F982268-9792-4053-A1C6-229BDAA31246}" destId="{EA5427BA-FCE3-436C-A587-FC6A8BA6577F}" srcOrd="1" destOrd="0" presId="urn:microsoft.com/office/officeart/2005/8/layout/process1"/>
    <dgm:cxn modelId="{4273C939-ED94-4CE9-BACD-04F6208A1546}" type="presParOf" srcId="{EA5427BA-FCE3-436C-A587-FC6A8BA6577F}" destId="{1A079401-C499-4E72-A9FB-0279B767785B}" srcOrd="0" destOrd="0" presId="urn:microsoft.com/office/officeart/2005/8/layout/process1"/>
    <dgm:cxn modelId="{2EE19A3A-5B49-4DB5-90BC-313AD3C31E7D}" type="presParOf" srcId="{1F982268-9792-4053-A1C6-229BDAA31246}" destId="{F1264237-1928-4F7A-A064-6808AAB0D175}" srcOrd="2" destOrd="0" presId="urn:microsoft.com/office/officeart/2005/8/layout/process1"/>
    <dgm:cxn modelId="{36D1FC13-4EAA-4C4F-8100-80BCF0EC6C7D}" type="presParOf" srcId="{1F982268-9792-4053-A1C6-229BDAA31246}" destId="{F3567251-83DC-4EC6-BB37-62F4EF1B556C}" srcOrd="3" destOrd="0" presId="urn:microsoft.com/office/officeart/2005/8/layout/process1"/>
    <dgm:cxn modelId="{E8E85532-D67D-43FB-895F-6F652691624A}" type="presParOf" srcId="{F3567251-83DC-4EC6-BB37-62F4EF1B556C}" destId="{299CBF6B-53DC-43FC-91EC-85EEB6E9018E}" srcOrd="0" destOrd="0" presId="urn:microsoft.com/office/officeart/2005/8/layout/process1"/>
    <dgm:cxn modelId="{9B57806E-3464-4853-95AA-4D8D4F9134A0}" type="presParOf" srcId="{1F982268-9792-4053-A1C6-229BDAA31246}" destId="{7DCE0DDA-F512-495F-A8BA-BA9A3BD92FB3}" srcOrd="4" destOrd="0" presId="urn:microsoft.com/office/officeart/2005/8/layout/process1"/>
    <dgm:cxn modelId="{C25A8785-BBC1-42A2-A4F7-148D19F5EB47}" type="presParOf" srcId="{1F982268-9792-4053-A1C6-229BDAA31246}" destId="{F2E96D6A-A009-49CB-A102-3611690BDF2A}" srcOrd="5" destOrd="0" presId="urn:microsoft.com/office/officeart/2005/8/layout/process1"/>
    <dgm:cxn modelId="{8E29B8B2-170C-4DCB-A615-BD0F86B82E1F}" type="presParOf" srcId="{F2E96D6A-A009-49CB-A102-3611690BDF2A}" destId="{D8D1E778-1F96-4C44-8366-E15B1E781F8F}" srcOrd="0" destOrd="0" presId="urn:microsoft.com/office/officeart/2005/8/layout/process1"/>
    <dgm:cxn modelId="{19D61ADF-D4CD-4BD0-BC92-BD16E1C4E224}" type="presParOf" srcId="{1F982268-9792-4053-A1C6-229BDAA31246}" destId="{BA713800-D4A0-4B80-8016-D93FFCA180B5}" srcOrd="6" destOrd="0" presId="urn:microsoft.com/office/officeart/2005/8/layout/process1"/>
    <dgm:cxn modelId="{617FDA33-6D37-40C7-8B0D-9C732674D583}" type="presParOf" srcId="{1F982268-9792-4053-A1C6-229BDAA31246}" destId="{AB9CD4CC-A93B-45AF-B824-2F8CB17D6CAA}" srcOrd="7" destOrd="0" presId="urn:microsoft.com/office/officeart/2005/8/layout/process1"/>
    <dgm:cxn modelId="{6BE53B6F-A189-4C11-A2CF-17B9EAF87F03}" type="presParOf" srcId="{AB9CD4CC-A93B-45AF-B824-2F8CB17D6CAA}" destId="{A8C8C495-43BE-4675-8329-0308E1690722}" srcOrd="0" destOrd="0" presId="urn:microsoft.com/office/officeart/2005/8/layout/process1"/>
    <dgm:cxn modelId="{9A9B47F9-B2A6-432B-9AB6-345BE5BDEEC0}" type="presParOf" srcId="{1F982268-9792-4053-A1C6-229BDAA31246}" destId="{E0A4E537-9139-4D27-A1C6-B706CF49B59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F3DDBF-79D9-4FB5-83C9-262CC195BA7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98FC60C-99DF-4BB9-A378-E91B2946D5A9}">
      <dgm:prSet phldrT="[文本]" phldr="0"/>
      <dgm:spPr/>
      <dgm:t>
        <a:bodyPr/>
        <a:lstStyle/>
        <a:p>
          <a:r>
            <a:rPr lang="en-US" altLang="zh-CN" dirty="0"/>
            <a:t>AI</a:t>
          </a:r>
          <a:r>
            <a:rPr lang="zh-CN" altLang="en-US" dirty="0"/>
            <a:t>层</a:t>
          </a:r>
        </a:p>
      </dgm:t>
    </dgm:pt>
    <dgm:pt modelId="{2D1689DF-C913-4817-BB4D-B18510B712AE}" cxnId="{A85659F8-6C05-49F6-A5A5-990E3978D159}" type="parTrans">
      <dgm:prSet/>
      <dgm:spPr/>
      <dgm:t>
        <a:bodyPr/>
        <a:lstStyle/>
        <a:p>
          <a:endParaRPr lang="zh-CN" altLang="en-US"/>
        </a:p>
      </dgm:t>
    </dgm:pt>
    <dgm:pt modelId="{38CBB8F6-030A-4878-9695-9C3FAFFC5129}" cxnId="{A85659F8-6C05-49F6-A5A5-990E3978D159}" type="sibTrans">
      <dgm:prSet/>
      <dgm:spPr/>
      <dgm:t>
        <a:bodyPr/>
        <a:lstStyle/>
        <a:p>
          <a:endParaRPr lang="zh-CN" altLang="en-US"/>
        </a:p>
      </dgm:t>
    </dgm:pt>
    <dgm:pt modelId="{338B6E34-8448-475C-BEFB-9885B36DA82C}">
      <dgm:prSet phldrT="[文本]"/>
      <dgm:spPr/>
      <dgm:t>
        <a:bodyPr/>
        <a:lstStyle/>
        <a:p>
          <a:r>
            <a:rPr lang="zh-CN" altLang="en-US" dirty="0"/>
            <a:t>合约层</a:t>
          </a:r>
        </a:p>
      </dgm:t>
    </dgm:pt>
    <dgm:pt modelId="{36101D7B-61DF-4104-943A-455F3F53A9F4}" cxnId="{6AA03283-7F08-49CA-87AD-8D9D6F52ED06}" type="parTrans">
      <dgm:prSet/>
      <dgm:spPr/>
      <dgm:t>
        <a:bodyPr/>
        <a:lstStyle/>
        <a:p>
          <a:endParaRPr lang="zh-CN" altLang="en-US"/>
        </a:p>
      </dgm:t>
    </dgm:pt>
    <dgm:pt modelId="{B16BAF34-F5D4-4C85-84B0-91D16427BD71}" cxnId="{6AA03283-7F08-49CA-87AD-8D9D6F52ED06}" type="sibTrans">
      <dgm:prSet/>
      <dgm:spPr/>
      <dgm:t>
        <a:bodyPr/>
        <a:lstStyle/>
        <a:p>
          <a:endParaRPr lang="zh-CN" altLang="en-US"/>
        </a:p>
      </dgm:t>
    </dgm:pt>
    <dgm:pt modelId="{B01B7EFF-20E6-4E1A-932B-0EAE0C71E317}">
      <dgm:prSet phldrT="[文本]" phldr="0"/>
      <dgm:spPr/>
      <dgm:t>
        <a:bodyPr/>
        <a:lstStyle/>
        <a:p>
          <a:r>
            <a:rPr lang="zh-CN" altLang="en-US" dirty="0"/>
            <a:t>代币层</a:t>
          </a:r>
        </a:p>
      </dgm:t>
    </dgm:pt>
    <dgm:pt modelId="{7CAE8AE7-B44D-4ED0-A718-3846BD2A2F14}" cxnId="{E0037224-4B7A-4B5C-84D1-D7FC5F68A1A8}" type="parTrans">
      <dgm:prSet/>
      <dgm:spPr/>
      <dgm:t>
        <a:bodyPr/>
        <a:lstStyle/>
        <a:p>
          <a:endParaRPr lang="zh-CN" altLang="en-US"/>
        </a:p>
      </dgm:t>
    </dgm:pt>
    <dgm:pt modelId="{FDB7816A-A63B-4D50-845E-9EB9325C861D}" cxnId="{E0037224-4B7A-4B5C-84D1-D7FC5F68A1A8}" type="sibTrans">
      <dgm:prSet/>
      <dgm:spPr/>
      <dgm:t>
        <a:bodyPr/>
        <a:lstStyle/>
        <a:p>
          <a:endParaRPr lang="zh-CN" altLang="en-US"/>
        </a:p>
      </dgm:t>
    </dgm:pt>
    <dgm:pt modelId="{0695201C-07AD-47D9-AF6A-65805FEE32C6}">
      <dgm:prSet phldrT="[文本]"/>
      <dgm:spPr/>
      <dgm:t>
        <a:bodyPr/>
        <a:lstStyle/>
        <a:p>
          <a:r>
            <a:rPr lang="zh-CN" altLang="en-US" dirty="0"/>
            <a:t>前端层</a:t>
          </a:r>
        </a:p>
      </dgm:t>
    </dgm:pt>
    <dgm:pt modelId="{8EDD73CE-A215-4808-8592-C7E0FAC2CED8}" cxnId="{938CE0AD-077F-4FBD-A720-6A8382ACA321}" type="parTrans">
      <dgm:prSet/>
      <dgm:spPr/>
      <dgm:t>
        <a:bodyPr/>
        <a:lstStyle/>
        <a:p>
          <a:endParaRPr lang="zh-CN" altLang="en-US"/>
        </a:p>
      </dgm:t>
    </dgm:pt>
    <dgm:pt modelId="{946DA63E-9986-4160-B84B-FE24B79C4719}" cxnId="{938CE0AD-077F-4FBD-A720-6A8382ACA321}" type="sibTrans">
      <dgm:prSet/>
      <dgm:spPr/>
      <dgm:t>
        <a:bodyPr/>
        <a:lstStyle/>
        <a:p>
          <a:endParaRPr lang="zh-CN" altLang="en-US"/>
        </a:p>
      </dgm:t>
    </dgm:pt>
    <dgm:pt modelId="{7AC52DD3-C0C3-4E23-8A50-1ADE21A093EE}" type="pres">
      <dgm:prSet presAssocID="{BCF3DDBF-79D9-4FB5-83C9-262CC195BA7F}" presName="matrix" presStyleCnt="0">
        <dgm:presLayoutVars>
          <dgm:chMax val="1"/>
          <dgm:dir/>
          <dgm:resizeHandles val="exact"/>
        </dgm:presLayoutVars>
      </dgm:prSet>
      <dgm:spPr/>
    </dgm:pt>
    <dgm:pt modelId="{FA69195D-CCAF-49B8-AAF4-EF67442E3CF4}" type="pres">
      <dgm:prSet presAssocID="{BCF3DDBF-79D9-4FB5-83C9-262CC195BA7F}" presName="diamond" presStyleLbl="bgShp" presStyleIdx="0" presStyleCnt="1"/>
      <dgm:spPr/>
    </dgm:pt>
    <dgm:pt modelId="{C49D8EEA-1D31-4E3F-ABB3-589A269A1BBE}" type="pres">
      <dgm:prSet presAssocID="{BCF3DDBF-79D9-4FB5-83C9-262CC195BA7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D00880-4E9E-44AE-989B-2D28BA0A4B5E}" type="pres">
      <dgm:prSet presAssocID="{BCF3DDBF-79D9-4FB5-83C9-262CC195BA7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D1052E-AE3D-4A2C-988A-CC8F3491B998}" type="pres">
      <dgm:prSet presAssocID="{BCF3DDBF-79D9-4FB5-83C9-262CC195BA7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2309E80-398E-4EE1-93AA-6451FB0A6852}" type="pres">
      <dgm:prSet presAssocID="{BCF3DDBF-79D9-4FB5-83C9-262CC195BA7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0037224-4B7A-4B5C-84D1-D7FC5F68A1A8}" srcId="{BCF3DDBF-79D9-4FB5-83C9-262CC195BA7F}" destId="{B01B7EFF-20E6-4E1A-932B-0EAE0C71E317}" srcOrd="2" destOrd="0" parTransId="{7CAE8AE7-B44D-4ED0-A718-3846BD2A2F14}" sibTransId="{FDB7816A-A63B-4D50-845E-9EB9325C861D}"/>
    <dgm:cxn modelId="{89D24275-6A87-402D-8D70-339C4DE58CFE}" type="presOf" srcId="{338B6E34-8448-475C-BEFB-9885B36DA82C}" destId="{32D00880-4E9E-44AE-989B-2D28BA0A4B5E}" srcOrd="0" destOrd="0" presId="urn:microsoft.com/office/officeart/2005/8/layout/matrix3"/>
    <dgm:cxn modelId="{6AA03283-7F08-49CA-87AD-8D9D6F52ED06}" srcId="{BCF3DDBF-79D9-4FB5-83C9-262CC195BA7F}" destId="{338B6E34-8448-475C-BEFB-9885B36DA82C}" srcOrd="1" destOrd="0" parTransId="{36101D7B-61DF-4104-943A-455F3F53A9F4}" sibTransId="{B16BAF34-F5D4-4C85-84B0-91D16427BD71}"/>
    <dgm:cxn modelId="{F6624D8E-BFFD-4038-B291-4FBC12FE3380}" type="presOf" srcId="{BCF3DDBF-79D9-4FB5-83C9-262CC195BA7F}" destId="{7AC52DD3-C0C3-4E23-8A50-1ADE21A093EE}" srcOrd="0" destOrd="0" presId="urn:microsoft.com/office/officeart/2005/8/layout/matrix3"/>
    <dgm:cxn modelId="{938CE0AD-077F-4FBD-A720-6A8382ACA321}" srcId="{BCF3DDBF-79D9-4FB5-83C9-262CC195BA7F}" destId="{0695201C-07AD-47D9-AF6A-65805FEE32C6}" srcOrd="3" destOrd="0" parTransId="{8EDD73CE-A215-4808-8592-C7E0FAC2CED8}" sibTransId="{946DA63E-9986-4160-B84B-FE24B79C4719}"/>
    <dgm:cxn modelId="{820C69E6-63C1-41A0-A8E4-5265178137F9}" type="presOf" srcId="{198FC60C-99DF-4BB9-A378-E91B2946D5A9}" destId="{C49D8EEA-1D31-4E3F-ABB3-589A269A1BBE}" srcOrd="0" destOrd="0" presId="urn:microsoft.com/office/officeart/2005/8/layout/matrix3"/>
    <dgm:cxn modelId="{64CAEDF6-63B0-44E3-9C8E-714AA1705EC8}" type="presOf" srcId="{B01B7EFF-20E6-4E1A-932B-0EAE0C71E317}" destId="{12D1052E-AE3D-4A2C-988A-CC8F3491B998}" srcOrd="0" destOrd="0" presId="urn:microsoft.com/office/officeart/2005/8/layout/matrix3"/>
    <dgm:cxn modelId="{A85659F8-6C05-49F6-A5A5-990E3978D159}" srcId="{BCF3DDBF-79D9-4FB5-83C9-262CC195BA7F}" destId="{198FC60C-99DF-4BB9-A378-E91B2946D5A9}" srcOrd="0" destOrd="0" parTransId="{2D1689DF-C913-4817-BB4D-B18510B712AE}" sibTransId="{38CBB8F6-030A-4878-9695-9C3FAFFC5129}"/>
    <dgm:cxn modelId="{5C1EA6FE-F949-43A4-803D-7DB897936DCA}" type="presOf" srcId="{0695201C-07AD-47D9-AF6A-65805FEE32C6}" destId="{B2309E80-398E-4EE1-93AA-6451FB0A6852}" srcOrd="0" destOrd="0" presId="urn:microsoft.com/office/officeart/2005/8/layout/matrix3"/>
    <dgm:cxn modelId="{34CC98D5-E03B-4A65-AF26-47B30BE258DC}" type="presParOf" srcId="{7AC52DD3-C0C3-4E23-8A50-1ADE21A093EE}" destId="{FA69195D-CCAF-49B8-AAF4-EF67442E3CF4}" srcOrd="0" destOrd="0" presId="urn:microsoft.com/office/officeart/2005/8/layout/matrix3"/>
    <dgm:cxn modelId="{494D1DFC-6DEC-4026-880F-1D0394E20FF6}" type="presParOf" srcId="{7AC52DD3-C0C3-4E23-8A50-1ADE21A093EE}" destId="{C49D8EEA-1D31-4E3F-ABB3-589A269A1BBE}" srcOrd="1" destOrd="0" presId="urn:microsoft.com/office/officeart/2005/8/layout/matrix3"/>
    <dgm:cxn modelId="{9739D191-F4B8-40F2-A7B0-E28751B43AFC}" type="presParOf" srcId="{7AC52DD3-C0C3-4E23-8A50-1ADE21A093EE}" destId="{32D00880-4E9E-44AE-989B-2D28BA0A4B5E}" srcOrd="2" destOrd="0" presId="urn:microsoft.com/office/officeart/2005/8/layout/matrix3"/>
    <dgm:cxn modelId="{2AB47D20-D0EE-402B-AA18-5B98C6336390}" type="presParOf" srcId="{7AC52DD3-C0C3-4E23-8A50-1ADE21A093EE}" destId="{12D1052E-AE3D-4A2C-988A-CC8F3491B998}" srcOrd="3" destOrd="0" presId="urn:microsoft.com/office/officeart/2005/8/layout/matrix3"/>
    <dgm:cxn modelId="{60623E05-F853-4D44-8B25-6FF82D4E6049}" type="presParOf" srcId="{7AC52DD3-C0C3-4E23-8A50-1ADE21A093EE}" destId="{B2309E80-398E-4EE1-93AA-6451FB0A685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BE5498-A84F-4098-BDA7-90A991F4B133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810AD247-B3CE-45EC-B72F-5AC9F9DFCD8B}">
      <dgm:prSet phldrT="[文本]" custT="1"/>
      <dgm:spPr/>
      <dgm:t>
        <a:bodyPr/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800" kern="1200" dirty="0">
              <a:solidFill>
                <a:srgbClr val="7B61FF">
                  <a:hueOff val="0"/>
                  <a:satOff val="0"/>
                  <a:lumOff val="0"/>
                  <a:alphaOff val="0"/>
                </a:srgbClr>
              </a:solidFill>
              <a:latin typeface="Source Serif Pro" panose="020F0502020204030204" pitchFamily="18" charset="0"/>
              <a:ea typeface="等线" panose="02010600030101010101" pitchFamily="2" charset="-122"/>
              <a:cs typeface="+mn-ea"/>
            </a:rPr>
            <a:t>短期</a:t>
          </a:r>
        </a:p>
      </dgm:t>
    </dgm:pt>
    <dgm:pt modelId="{2F9630A7-DD8C-4D37-ACF0-EFFBAD9DABD1}" cxnId="{A07C5FA7-CD9E-4C68-BCEA-E0B0EBDFADBF}" type="parTrans">
      <dgm:prSet/>
      <dgm:spPr/>
      <dgm:t>
        <a:bodyPr/>
        <a:lstStyle/>
        <a:p>
          <a:endParaRPr lang="zh-CN" altLang="en-US"/>
        </a:p>
      </dgm:t>
    </dgm:pt>
    <dgm:pt modelId="{21027FC1-2F02-4412-A07F-9C3F0B66F9DD}" cxnId="{A07C5FA7-CD9E-4C68-BCEA-E0B0EBDFADBF}" type="sibTrans">
      <dgm:prSet/>
      <dgm:spPr/>
      <dgm:t>
        <a:bodyPr/>
        <a:lstStyle/>
        <a:p>
          <a:endParaRPr lang="zh-CN" altLang="en-US"/>
        </a:p>
      </dgm:t>
    </dgm:pt>
    <dgm:pt modelId="{0D443CA1-FAF5-4F9F-A368-1A432C57E4B0}">
      <dgm:prSet phldrT="[文本]" custT="1"/>
      <dgm:spPr/>
      <dgm:t>
        <a:bodyPr/>
        <a:lstStyle/>
        <a:p>
          <a:r>
            <a:rPr lang="zh-CN" altLang="en-US" sz="4800" dirty="0">
              <a:latin typeface="Source Serif Pro" panose="020F0502020204030204" pitchFamily="18" charset="0"/>
            </a:rPr>
            <a:t>中期</a:t>
          </a:r>
        </a:p>
      </dgm:t>
    </dgm:pt>
    <dgm:pt modelId="{BFADB7BD-311A-4F48-93CD-7B51A300D471}" cxnId="{0EA917C7-D3C5-479C-98E3-FCA29CB76693}" type="parTrans">
      <dgm:prSet/>
      <dgm:spPr/>
      <dgm:t>
        <a:bodyPr/>
        <a:lstStyle/>
        <a:p>
          <a:endParaRPr lang="zh-CN" altLang="en-US"/>
        </a:p>
      </dgm:t>
    </dgm:pt>
    <dgm:pt modelId="{F645A978-DAC8-461D-A610-0DE978800447}" cxnId="{0EA917C7-D3C5-479C-98E3-FCA29CB76693}" type="sibTrans">
      <dgm:prSet/>
      <dgm:spPr/>
      <dgm:t>
        <a:bodyPr/>
        <a:lstStyle/>
        <a:p>
          <a:endParaRPr lang="zh-CN" altLang="en-US"/>
        </a:p>
      </dgm:t>
    </dgm:pt>
    <dgm:pt modelId="{7FCB23EF-6ABB-47C2-8B9B-42C3BD0999C0}" type="pres">
      <dgm:prSet presAssocID="{29BE5498-A84F-4098-BDA7-90A991F4B133}" presName="Name0" presStyleCnt="0">
        <dgm:presLayoutVars>
          <dgm:dir/>
          <dgm:resizeHandles val="exact"/>
        </dgm:presLayoutVars>
      </dgm:prSet>
      <dgm:spPr/>
    </dgm:pt>
    <dgm:pt modelId="{436D3CDD-406F-4455-BD31-937EFF2F2651}" type="pres">
      <dgm:prSet presAssocID="{29BE5498-A84F-4098-BDA7-90A991F4B133}" presName="arrow" presStyleLbl="bgShp" presStyleIdx="0" presStyleCnt="1" custLinFactNeighborY="8692"/>
      <dgm:spPr/>
    </dgm:pt>
    <dgm:pt modelId="{3C85176F-F316-4C95-8DCC-3E8F9884B4B0}" type="pres">
      <dgm:prSet presAssocID="{29BE5498-A84F-4098-BDA7-90A991F4B133}" presName="points" presStyleCnt="0"/>
      <dgm:spPr/>
    </dgm:pt>
    <dgm:pt modelId="{9F760F84-7646-4145-B494-B98BF8372B6B}" type="pres">
      <dgm:prSet presAssocID="{810AD247-B3CE-45EC-B72F-5AC9F9DFCD8B}" presName="compositeA" presStyleCnt="0"/>
      <dgm:spPr/>
    </dgm:pt>
    <dgm:pt modelId="{F085D667-7E32-485A-9C06-339EC4941B16}" type="pres">
      <dgm:prSet presAssocID="{810AD247-B3CE-45EC-B72F-5AC9F9DFCD8B}" presName="textA" presStyleLbl="revTx" presStyleIdx="0" presStyleCnt="2">
        <dgm:presLayoutVars>
          <dgm:bulletEnabled val="1"/>
        </dgm:presLayoutVars>
      </dgm:prSet>
      <dgm:spPr/>
    </dgm:pt>
    <dgm:pt modelId="{A6FAEA96-267F-42B8-A6E3-92856BD66586}" type="pres">
      <dgm:prSet presAssocID="{810AD247-B3CE-45EC-B72F-5AC9F9DFCD8B}" presName="circleA" presStyleLbl="node1" presStyleIdx="0" presStyleCnt="2"/>
      <dgm:spPr/>
    </dgm:pt>
    <dgm:pt modelId="{E179B684-5519-47B3-9E42-85A282224864}" type="pres">
      <dgm:prSet presAssocID="{810AD247-B3CE-45EC-B72F-5AC9F9DFCD8B}" presName="spaceA" presStyleCnt="0"/>
      <dgm:spPr/>
    </dgm:pt>
    <dgm:pt modelId="{54BDCAA8-27DC-4AFA-8BC0-D4A1B90F8647}" type="pres">
      <dgm:prSet presAssocID="{21027FC1-2F02-4412-A07F-9C3F0B66F9DD}" presName="space" presStyleCnt="0"/>
      <dgm:spPr/>
    </dgm:pt>
    <dgm:pt modelId="{490028CD-0DFE-46F7-8497-55843C69577D}" type="pres">
      <dgm:prSet presAssocID="{0D443CA1-FAF5-4F9F-A368-1A432C57E4B0}" presName="compositeB" presStyleCnt="0"/>
      <dgm:spPr/>
    </dgm:pt>
    <dgm:pt modelId="{F39CC8D9-B1C0-4597-8C72-5A771D664BA3}" type="pres">
      <dgm:prSet presAssocID="{0D443CA1-FAF5-4F9F-A368-1A432C57E4B0}" presName="textB" presStyleLbl="revTx" presStyleIdx="1" presStyleCnt="2" custLinFactNeighborX="172" custLinFactNeighborY="1370">
        <dgm:presLayoutVars>
          <dgm:bulletEnabled val="1"/>
        </dgm:presLayoutVars>
      </dgm:prSet>
      <dgm:spPr/>
    </dgm:pt>
    <dgm:pt modelId="{60333907-7BCD-4189-9EDD-B0F05142148E}" type="pres">
      <dgm:prSet presAssocID="{0D443CA1-FAF5-4F9F-A368-1A432C57E4B0}" presName="circleB" presStyleLbl="node1" presStyleIdx="1" presStyleCnt="2"/>
      <dgm:spPr/>
    </dgm:pt>
    <dgm:pt modelId="{8B6E4160-EBB9-414E-A84D-EA0D0E9E8601}" type="pres">
      <dgm:prSet presAssocID="{0D443CA1-FAF5-4F9F-A368-1A432C57E4B0}" presName="spaceB" presStyleCnt="0"/>
      <dgm:spPr/>
    </dgm:pt>
  </dgm:ptLst>
  <dgm:cxnLst>
    <dgm:cxn modelId="{938CE52C-4905-41E9-98D8-F32B001E5E52}" type="presOf" srcId="{29BE5498-A84F-4098-BDA7-90A991F4B133}" destId="{7FCB23EF-6ABB-47C2-8B9B-42C3BD0999C0}" srcOrd="0" destOrd="0" presId="urn:microsoft.com/office/officeart/2005/8/layout/hProcess11"/>
    <dgm:cxn modelId="{104CE07E-1A27-474F-8CE6-410C12CFBEEB}" type="presOf" srcId="{0D443CA1-FAF5-4F9F-A368-1A432C57E4B0}" destId="{F39CC8D9-B1C0-4597-8C72-5A771D664BA3}" srcOrd="0" destOrd="0" presId="urn:microsoft.com/office/officeart/2005/8/layout/hProcess11"/>
    <dgm:cxn modelId="{A07C5FA7-CD9E-4C68-BCEA-E0B0EBDFADBF}" srcId="{29BE5498-A84F-4098-BDA7-90A991F4B133}" destId="{810AD247-B3CE-45EC-B72F-5AC9F9DFCD8B}" srcOrd="0" destOrd="0" parTransId="{2F9630A7-DD8C-4D37-ACF0-EFFBAD9DABD1}" sibTransId="{21027FC1-2F02-4412-A07F-9C3F0B66F9DD}"/>
    <dgm:cxn modelId="{0EA917C7-D3C5-479C-98E3-FCA29CB76693}" srcId="{29BE5498-A84F-4098-BDA7-90A991F4B133}" destId="{0D443CA1-FAF5-4F9F-A368-1A432C57E4B0}" srcOrd="1" destOrd="0" parTransId="{BFADB7BD-311A-4F48-93CD-7B51A300D471}" sibTransId="{F645A978-DAC8-461D-A610-0DE978800447}"/>
    <dgm:cxn modelId="{8F7762F9-E04A-4FA8-9609-402D8CC63333}" type="presOf" srcId="{810AD247-B3CE-45EC-B72F-5AC9F9DFCD8B}" destId="{F085D667-7E32-485A-9C06-339EC4941B16}" srcOrd="0" destOrd="0" presId="urn:microsoft.com/office/officeart/2005/8/layout/hProcess11"/>
    <dgm:cxn modelId="{91FEB9C0-CCE2-48AE-88E0-015EB8939880}" type="presParOf" srcId="{7FCB23EF-6ABB-47C2-8B9B-42C3BD0999C0}" destId="{436D3CDD-406F-4455-BD31-937EFF2F2651}" srcOrd="0" destOrd="0" presId="urn:microsoft.com/office/officeart/2005/8/layout/hProcess11"/>
    <dgm:cxn modelId="{C53D41DA-521D-45D5-BD73-0AE7A6696383}" type="presParOf" srcId="{7FCB23EF-6ABB-47C2-8B9B-42C3BD0999C0}" destId="{3C85176F-F316-4C95-8DCC-3E8F9884B4B0}" srcOrd="1" destOrd="0" presId="urn:microsoft.com/office/officeart/2005/8/layout/hProcess11"/>
    <dgm:cxn modelId="{D0F7522A-EB8B-4A83-A418-3BD1CA83B103}" type="presParOf" srcId="{3C85176F-F316-4C95-8DCC-3E8F9884B4B0}" destId="{9F760F84-7646-4145-B494-B98BF8372B6B}" srcOrd="0" destOrd="0" presId="urn:microsoft.com/office/officeart/2005/8/layout/hProcess11"/>
    <dgm:cxn modelId="{EA2464C2-2886-4AAA-8B2A-3BCBC58DEE49}" type="presParOf" srcId="{9F760F84-7646-4145-B494-B98BF8372B6B}" destId="{F085D667-7E32-485A-9C06-339EC4941B16}" srcOrd="0" destOrd="0" presId="urn:microsoft.com/office/officeart/2005/8/layout/hProcess11"/>
    <dgm:cxn modelId="{AC04C9D4-7349-480A-86FD-0BA68F047748}" type="presParOf" srcId="{9F760F84-7646-4145-B494-B98BF8372B6B}" destId="{A6FAEA96-267F-42B8-A6E3-92856BD66586}" srcOrd="1" destOrd="0" presId="urn:microsoft.com/office/officeart/2005/8/layout/hProcess11"/>
    <dgm:cxn modelId="{E07B3CB0-42E8-4883-B949-1BA288A74BF9}" type="presParOf" srcId="{9F760F84-7646-4145-B494-B98BF8372B6B}" destId="{E179B684-5519-47B3-9E42-85A282224864}" srcOrd="2" destOrd="0" presId="urn:microsoft.com/office/officeart/2005/8/layout/hProcess11"/>
    <dgm:cxn modelId="{62D6CF4E-B1E5-4471-AB87-9A19180BEA9A}" type="presParOf" srcId="{3C85176F-F316-4C95-8DCC-3E8F9884B4B0}" destId="{54BDCAA8-27DC-4AFA-8BC0-D4A1B90F8647}" srcOrd="1" destOrd="0" presId="urn:microsoft.com/office/officeart/2005/8/layout/hProcess11"/>
    <dgm:cxn modelId="{613445AC-3563-4862-B6B6-405BB2DAE834}" type="presParOf" srcId="{3C85176F-F316-4C95-8DCC-3E8F9884B4B0}" destId="{490028CD-0DFE-46F7-8497-55843C69577D}" srcOrd="2" destOrd="0" presId="urn:microsoft.com/office/officeart/2005/8/layout/hProcess11"/>
    <dgm:cxn modelId="{9F9B330E-4BBF-4DB6-9415-360660C1AF7A}" type="presParOf" srcId="{490028CD-0DFE-46F7-8497-55843C69577D}" destId="{F39CC8D9-B1C0-4597-8C72-5A771D664BA3}" srcOrd="0" destOrd="0" presId="urn:microsoft.com/office/officeart/2005/8/layout/hProcess11"/>
    <dgm:cxn modelId="{33514E69-C332-454B-82C0-042A54489F54}" type="presParOf" srcId="{490028CD-0DFE-46F7-8497-55843C69577D}" destId="{60333907-7BCD-4189-9EDD-B0F05142148E}" srcOrd="1" destOrd="0" presId="urn:microsoft.com/office/officeart/2005/8/layout/hProcess11"/>
    <dgm:cxn modelId="{EC77FF63-B248-4F7C-B7A5-3183755A4504}" type="presParOf" srcId="{490028CD-0DFE-46F7-8497-55843C69577D}" destId="{8B6E4160-EBB9-414E-A84D-EA0D0E9E860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797845" cy="2640787"/>
        <a:chOff x="0" y="0"/>
        <a:chExt cx="10797845" cy="2640787"/>
      </a:xfrm>
    </dsp:grpSpPr>
    <dsp:sp modelId="{99F28A1C-AD82-4BC5-B92B-813246F787CB}">
      <dsp:nvSpPr>
        <dsp:cNvPr id="3" name="圆角矩形 2"/>
        <dsp:cNvSpPr/>
      </dsp:nvSpPr>
      <dsp:spPr bwMode="white">
        <a:xfrm>
          <a:off x="0" y="829582"/>
          <a:ext cx="1636037" cy="98162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2870" tIns="102870" rIns="102870" bIns="102870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数据输入</a:t>
          </a:r>
        </a:p>
      </dsp:txBody>
      <dsp:txXfrm>
        <a:off x="0" y="829582"/>
        <a:ext cx="1636037" cy="981622"/>
      </dsp:txXfrm>
    </dsp:sp>
    <dsp:sp modelId="{EA5427BA-FCE3-436C-A587-FC6A8BA6577F}">
      <dsp:nvSpPr>
        <dsp:cNvPr id="4" name="右箭头 3"/>
        <dsp:cNvSpPr/>
      </dsp:nvSpPr>
      <dsp:spPr bwMode="white">
        <a:xfrm>
          <a:off x="1789825" y="1117525"/>
          <a:ext cx="346840" cy="40573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1789825" y="1117525"/>
        <a:ext cx="346840" cy="405737"/>
      </dsp:txXfrm>
    </dsp:sp>
    <dsp:sp modelId="{F1264237-1928-4F7A-A064-6808AAB0D175}">
      <dsp:nvSpPr>
        <dsp:cNvPr id="5" name="圆角矩形 4"/>
        <dsp:cNvSpPr/>
      </dsp:nvSpPr>
      <dsp:spPr bwMode="white">
        <a:xfrm>
          <a:off x="2290452" y="829582"/>
          <a:ext cx="1636037" cy="98162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2870" tIns="102870" rIns="102870" bIns="102870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/>
            <a:t>AI</a:t>
          </a:r>
          <a:r>
            <a:rPr lang="zh-CN" altLang="en-US" dirty="0"/>
            <a:t>模型</a:t>
          </a:r>
        </a:p>
      </dsp:txBody>
      <dsp:txXfrm>
        <a:off x="2290452" y="829582"/>
        <a:ext cx="1636037" cy="981622"/>
      </dsp:txXfrm>
    </dsp:sp>
    <dsp:sp modelId="{F3567251-83DC-4EC6-BB37-62F4EF1B556C}">
      <dsp:nvSpPr>
        <dsp:cNvPr id="6" name="右箭头 5"/>
        <dsp:cNvSpPr/>
      </dsp:nvSpPr>
      <dsp:spPr bwMode="white">
        <a:xfrm rot="-11801">
          <a:off x="4080276" y="1113593"/>
          <a:ext cx="346842" cy="40573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-11801">
        <a:off x="4080276" y="1113593"/>
        <a:ext cx="346842" cy="405737"/>
      </dsp:txXfrm>
    </dsp:sp>
    <dsp:sp modelId="{7DCE0DDA-F512-495F-A8BA-BA9A3BD92FB3}">
      <dsp:nvSpPr>
        <dsp:cNvPr id="7" name="圆角矩形 6"/>
        <dsp:cNvSpPr/>
      </dsp:nvSpPr>
      <dsp:spPr bwMode="white">
        <a:xfrm>
          <a:off x="4580904" y="821720"/>
          <a:ext cx="1636037" cy="98162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2870" tIns="102870" rIns="102870" bIns="102870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价格对比</a:t>
          </a:r>
        </a:p>
      </dsp:txBody>
      <dsp:txXfrm>
        <a:off x="4580904" y="821720"/>
        <a:ext cx="1636037" cy="981622"/>
      </dsp:txXfrm>
    </dsp:sp>
    <dsp:sp modelId="{F2E96D6A-A009-49CB-A102-3611690BDF2A}">
      <dsp:nvSpPr>
        <dsp:cNvPr id="8" name="右箭头 7"/>
        <dsp:cNvSpPr/>
      </dsp:nvSpPr>
      <dsp:spPr bwMode="white">
        <a:xfrm rot="11801">
          <a:off x="6370728" y="1113593"/>
          <a:ext cx="346842" cy="40573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1801">
        <a:off x="6370728" y="1113593"/>
        <a:ext cx="346842" cy="405737"/>
      </dsp:txXfrm>
    </dsp:sp>
    <dsp:sp modelId="{BA713800-D4A0-4B80-8016-D93FFCA180B5}">
      <dsp:nvSpPr>
        <dsp:cNvPr id="9" name="圆角矩形 8"/>
        <dsp:cNvSpPr/>
      </dsp:nvSpPr>
      <dsp:spPr bwMode="white">
        <a:xfrm>
          <a:off x="6871356" y="829582"/>
          <a:ext cx="1636037" cy="98162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2870" tIns="102870" rIns="102870" bIns="102870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套利执行</a:t>
          </a:r>
        </a:p>
      </dsp:txBody>
      <dsp:txXfrm>
        <a:off x="6871356" y="829582"/>
        <a:ext cx="1636037" cy="981622"/>
      </dsp:txXfrm>
    </dsp:sp>
    <dsp:sp modelId="{AB9CD4CC-A93B-45AF-B824-2F8CB17D6CAA}">
      <dsp:nvSpPr>
        <dsp:cNvPr id="10" name="右箭头 9"/>
        <dsp:cNvSpPr/>
      </dsp:nvSpPr>
      <dsp:spPr bwMode="white">
        <a:xfrm>
          <a:off x="8661181" y="1117525"/>
          <a:ext cx="346840" cy="405737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5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8661181" y="1117525"/>
        <a:ext cx="346840" cy="405737"/>
      </dsp:txXfrm>
    </dsp:sp>
    <dsp:sp modelId="{E0A4E537-9139-4D27-A1C6-B706CF49B59F}">
      <dsp:nvSpPr>
        <dsp:cNvPr id="11" name="圆角矩形 10"/>
        <dsp:cNvSpPr/>
      </dsp:nvSpPr>
      <dsp:spPr bwMode="white">
        <a:xfrm>
          <a:off x="9161808" y="829582"/>
          <a:ext cx="1636037" cy="98162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2870" tIns="102870" rIns="102870" bIns="102870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收益分发</a:t>
          </a:r>
        </a:p>
      </dsp:txBody>
      <dsp:txXfrm>
        <a:off x="9161808" y="829582"/>
        <a:ext cx="1636037" cy="9816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990978" cy="4990978"/>
        <a:chOff x="0" y="0"/>
        <a:chExt cx="4990978" cy="4990978"/>
      </a:xfrm>
    </dsp:grpSpPr>
    <dsp:sp modelId="{FA69195D-CCAF-49B8-AAF4-EF67442E3CF4}">
      <dsp:nvSpPr>
        <dsp:cNvPr id="3" name="菱形 2"/>
        <dsp:cNvSpPr/>
      </dsp:nvSpPr>
      <dsp:spPr bwMode="white">
        <a:xfrm>
          <a:off x="2762311" y="0"/>
          <a:ext cx="4990978" cy="4990978"/>
        </a:xfrm>
        <a:prstGeom prst="diamond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2762311" y="0"/>
        <a:ext cx="4990978" cy="4990978"/>
      </dsp:txXfrm>
    </dsp:sp>
    <dsp:sp modelId="{C49D8EEA-1D31-4E3F-ABB3-589A269A1BBE}">
      <dsp:nvSpPr>
        <dsp:cNvPr id="4" name="圆角矩形 3"/>
        <dsp:cNvSpPr/>
      </dsp:nvSpPr>
      <dsp:spPr bwMode="white">
        <a:xfrm>
          <a:off x="3236454" y="474143"/>
          <a:ext cx="1946481" cy="1946481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7640" tIns="167640" rIns="167640" bIns="167640" anchor="ctr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/>
            <a:t>AI</a:t>
          </a:r>
          <a:r>
            <a:rPr lang="zh-CN" altLang="en-US" dirty="0"/>
            <a:t>层</a:t>
          </a:r>
        </a:p>
      </dsp:txBody>
      <dsp:txXfrm>
        <a:off x="3236454" y="474143"/>
        <a:ext cx="1946481" cy="1946481"/>
      </dsp:txXfrm>
    </dsp:sp>
    <dsp:sp modelId="{32D00880-4E9E-44AE-989B-2D28BA0A4B5E}">
      <dsp:nvSpPr>
        <dsp:cNvPr id="5" name="圆角矩形 4"/>
        <dsp:cNvSpPr/>
      </dsp:nvSpPr>
      <dsp:spPr bwMode="white">
        <a:xfrm>
          <a:off x="5332665" y="474143"/>
          <a:ext cx="1946481" cy="1946481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7640" tIns="167640" rIns="167640" bIns="167640" anchor="ctr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合约层</a:t>
          </a:r>
        </a:p>
      </dsp:txBody>
      <dsp:txXfrm>
        <a:off x="5332665" y="474143"/>
        <a:ext cx="1946481" cy="1946481"/>
      </dsp:txXfrm>
    </dsp:sp>
    <dsp:sp modelId="{12D1052E-AE3D-4A2C-988A-CC8F3491B998}">
      <dsp:nvSpPr>
        <dsp:cNvPr id="6" name="圆角矩形 5"/>
        <dsp:cNvSpPr/>
      </dsp:nvSpPr>
      <dsp:spPr bwMode="white">
        <a:xfrm>
          <a:off x="3236454" y="2570354"/>
          <a:ext cx="1946481" cy="1946481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7640" tIns="167640" rIns="167640" bIns="167640" anchor="ctr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代币层</a:t>
          </a:r>
        </a:p>
      </dsp:txBody>
      <dsp:txXfrm>
        <a:off x="3236454" y="2570354"/>
        <a:ext cx="1946481" cy="1946481"/>
      </dsp:txXfrm>
    </dsp:sp>
    <dsp:sp modelId="{B2309E80-398E-4EE1-93AA-6451FB0A6852}">
      <dsp:nvSpPr>
        <dsp:cNvPr id="7" name="圆角矩形 6"/>
        <dsp:cNvSpPr/>
      </dsp:nvSpPr>
      <dsp:spPr bwMode="white">
        <a:xfrm>
          <a:off x="5332665" y="2570354"/>
          <a:ext cx="1946481" cy="1946481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7640" tIns="167640" rIns="167640" bIns="167640" anchor="ctr"/>
        <a:lstStyle>
          <a:lvl1pPr algn="ctr">
            <a:defRPr sz="44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前端层</a:t>
          </a:r>
        </a:p>
      </dsp:txBody>
      <dsp:txXfrm>
        <a:off x="5332665" y="2570354"/>
        <a:ext cx="1946481" cy="19464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436D3CDD-406F-4455-BD31-937EFF2F2651}">
      <dsp:nvSpPr>
        <dsp:cNvPr id="3" name="燕尾形箭头 2"/>
        <dsp:cNvSpPr/>
      </dsp:nvSpPr>
      <dsp:spPr bwMode="white">
        <a:xfrm>
          <a:off x="0" y="1456689"/>
          <a:ext cx="10515600" cy="1740535"/>
        </a:xfrm>
        <a:prstGeom prst="notchedRightArrow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1456689"/>
        <a:ext cx="10515600" cy="1740535"/>
      </dsp:txXfrm>
    </dsp:sp>
    <dsp:sp modelId="{F085D667-7E32-485A-9C06-339EC4941B16}">
      <dsp:nvSpPr>
        <dsp:cNvPr id="4" name="矩形 3"/>
        <dsp:cNvSpPr/>
      </dsp:nvSpPr>
      <dsp:spPr bwMode="white">
        <a:xfrm>
          <a:off x="0" y="0"/>
          <a:ext cx="4616605" cy="174053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41376" tIns="341376" rIns="341376" bIns="341376" anchor="b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800" kern="1200" dirty="0">
              <a:solidFill>
                <a:srgbClr val="7B61FF">
                  <a:hueOff val="0"/>
                  <a:satOff val="0"/>
                  <a:lumOff val="0"/>
                  <a:alphaOff val="0"/>
                </a:srgbClr>
              </a:solidFill>
              <a:latin typeface="Source Serif Pro" panose="020F0502020204030204" pitchFamily="18" charset="0"/>
              <a:ea typeface="等线" panose="02010600030101010101" pitchFamily="2" charset="-122"/>
              <a:cs typeface="+mn-ea"/>
            </a:rPr>
            <a:t>短期</a:t>
          </a:r>
          <a:endParaRPr>
            <a:solidFill>
              <a:schemeClr val="tx1"/>
            </a:solidFill>
          </a:endParaRPr>
        </a:p>
      </dsp:txBody>
      <dsp:txXfrm>
        <a:off x="0" y="0"/>
        <a:ext cx="4616605" cy="1740535"/>
      </dsp:txXfrm>
    </dsp:sp>
    <dsp:sp modelId="{A6FAEA96-267F-42B8-A6E3-92856BD66586}">
      <dsp:nvSpPr>
        <dsp:cNvPr id="5" name="椭圆 4"/>
        <dsp:cNvSpPr/>
      </dsp:nvSpPr>
      <dsp:spPr bwMode="white">
        <a:xfrm>
          <a:off x="2090736" y="1958102"/>
          <a:ext cx="435134" cy="435134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090736" y="1958102"/>
        <a:ext cx="435134" cy="435134"/>
      </dsp:txXfrm>
    </dsp:sp>
    <dsp:sp modelId="{F39CC8D9-B1C0-4597-8C72-5A771D664BA3}">
      <dsp:nvSpPr>
        <dsp:cNvPr id="6" name="矩形 5"/>
        <dsp:cNvSpPr/>
      </dsp:nvSpPr>
      <dsp:spPr bwMode="white">
        <a:xfrm>
          <a:off x="4855376" y="2610803"/>
          <a:ext cx="4616605" cy="1740535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41376" tIns="341376" rIns="341376" bIns="341376" anchor="t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800" dirty="0">
              <a:solidFill>
                <a:schemeClr val="tx1"/>
              </a:solidFill>
              <a:latin typeface="Source Serif Pro" panose="020F0502020204030204" pitchFamily="18" charset="0"/>
            </a:rPr>
            <a:t>中期</a:t>
          </a:r>
          <a:endParaRPr>
            <a:solidFill>
              <a:schemeClr val="tx1"/>
            </a:solidFill>
          </a:endParaRPr>
        </a:p>
      </dsp:txBody>
      <dsp:txXfrm>
        <a:off x="4855376" y="2610803"/>
        <a:ext cx="4616605" cy="1740535"/>
      </dsp:txXfrm>
    </dsp:sp>
    <dsp:sp modelId="{60333907-7BCD-4189-9EDD-B0F05142148E}">
      <dsp:nvSpPr>
        <dsp:cNvPr id="7" name="椭圆 6"/>
        <dsp:cNvSpPr/>
      </dsp:nvSpPr>
      <dsp:spPr bwMode="white">
        <a:xfrm>
          <a:off x="6938171" y="1958102"/>
          <a:ext cx="435134" cy="435134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6938171" y="1958102"/>
        <a:ext cx="435134" cy="435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type="notchedRightArrow" r:blip="" rot="180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b"/>
                  <dgm:param type="txAnchorVert" val="b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t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1.png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>
            <p:custDataLst>
              <p:tags r:id="rId3"/>
            </p:custDataLst>
          </p:nvPr>
        </p:nvSpPr>
        <p:spPr>
          <a:xfrm>
            <a:off x="6919595" y="0"/>
            <a:ext cx="5272405" cy="48736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>
            <a:off x="8441055" y="0"/>
            <a:ext cx="3750945" cy="36417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5"/>
            </p:custDataLst>
          </p:nvPr>
        </p:nvCxnSpPr>
        <p:spPr>
          <a:xfrm>
            <a:off x="1069698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6"/>
            </p:custDataLst>
          </p:nvPr>
        </p:nvCxnSpPr>
        <p:spPr>
          <a:xfrm>
            <a:off x="1069698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>
            <a:off x="1069698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>
            <p:custDataLst>
              <p:tags r:id="rId8"/>
            </p:custDataLst>
          </p:nvPr>
        </p:nvSpPr>
        <p:spPr>
          <a:xfrm>
            <a:off x="6892945" y="969581"/>
            <a:ext cx="288925" cy="28892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椭圆 24"/>
          <p:cNvSpPr/>
          <p:nvPr>
            <p:custDataLst>
              <p:tags r:id="rId9"/>
            </p:custDataLst>
          </p:nvPr>
        </p:nvSpPr>
        <p:spPr>
          <a:xfrm>
            <a:off x="9102739" y="4021926"/>
            <a:ext cx="808355" cy="808355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0"/>
            </p:custDataLst>
          </p:nvPr>
        </p:nvSpPr>
        <p:spPr>
          <a:xfrm>
            <a:off x="9963150" y="0"/>
            <a:ext cx="2228850" cy="2164080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图形 24"/>
          <p:cNvSpPr/>
          <p:nvPr>
            <p:custDataLst>
              <p:tags r:id="rId11"/>
            </p:custDataLst>
          </p:nvPr>
        </p:nvSpPr>
        <p:spPr>
          <a:xfrm>
            <a:off x="9963150" y="589915"/>
            <a:ext cx="2228850" cy="1643380"/>
          </a:xfrm>
          <a:custGeom>
            <a:avLst/>
            <a:gdLst>
              <a:gd name="connsiteX0" fmla="*/ 305151 w 1622268"/>
              <a:gd name="connsiteY0" fmla="*/ 689 h 1196098"/>
              <a:gd name="connsiteX1" fmla="*/ 532418 w 1622268"/>
              <a:gd name="connsiteY1" fmla="*/ 142707 h 1196098"/>
              <a:gd name="connsiteX2" fmla="*/ 1579882 w 1622268"/>
              <a:gd name="connsiteY2" fmla="*/ 601241 h 1196098"/>
              <a:gd name="connsiteX3" fmla="*/ 1622269 w 1622268"/>
              <a:gd name="connsiteY3" fmla="*/ 589430 h 1196098"/>
              <a:gd name="connsiteX4" fmla="*/ 1622269 w 1622268"/>
              <a:gd name="connsiteY4" fmla="*/ 1173217 h 1196098"/>
              <a:gd name="connsiteX5" fmla="*/ 1567976 w 1622268"/>
              <a:gd name="connsiteY5" fmla="*/ 1183123 h 1196098"/>
              <a:gd name="connsiteX6" fmla="*/ 970282 w 1622268"/>
              <a:gd name="connsiteY6" fmla="*/ 1143118 h 1196098"/>
              <a:gd name="connsiteX7" fmla="*/ 38261 w 1622268"/>
              <a:gd name="connsiteY7" fmla="*/ 427981 h 1196098"/>
              <a:gd name="connsiteX8" fmla="*/ 142655 w 1622268"/>
              <a:gd name="connsiteY8" fmla="*/ 38313 h 1196098"/>
              <a:gd name="connsiteX9" fmla="*/ 305151 w 1622268"/>
              <a:gd name="connsiteY9" fmla="*/ 689 h 1196098"/>
              <a:gd name="connsiteX10" fmla="*/ 305151 w 1622268"/>
              <a:gd name="connsiteY10" fmla="*/ 689 h 119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2268" h="1196098">
                <a:moveTo>
                  <a:pt x="305151" y="689"/>
                </a:moveTo>
                <a:cubicBezTo>
                  <a:pt x="396496" y="7166"/>
                  <a:pt x="483174" y="57363"/>
                  <a:pt x="532418" y="142707"/>
                </a:cubicBezTo>
                <a:cubicBezTo>
                  <a:pt x="748445" y="516849"/>
                  <a:pt x="1178975" y="691538"/>
                  <a:pt x="1579882" y="601241"/>
                </a:cubicBezTo>
                <a:lnTo>
                  <a:pt x="1622269" y="589430"/>
                </a:lnTo>
                <a:lnTo>
                  <a:pt x="1622269" y="1173217"/>
                </a:lnTo>
                <a:cubicBezTo>
                  <a:pt x="1622269" y="1173217"/>
                  <a:pt x="1567976" y="1183123"/>
                  <a:pt x="1567976" y="1183123"/>
                </a:cubicBezTo>
                <a:cubicBezTo>
                  <a:pt x="1370713" y="1209126"/>
                  <a:pt x="1168307" y="1196172"/>
                  <a:pt x="970282" y="1143118"/>
                </a:cubicBezTo>
                <a:cubicBezTo>
                  <a:pt x="574233" y="1037009"/>
                  <a:pt x="243239" y="783073"/>
                  <a:pt x="38261" y="427981"/>
                </a:cubicBezTo>
                <a:cubicBezTo>
                  <a:pt x="-40511" y="291583"/>
                  <a:pt x="6257" y="117085"/>
                  <a:pt x="142655" y="38313"/>
                </a:cubicBezTo>
                <a:cubicBezTo>
                  <a:pt x="193804" y="8786"/>
                  <a:pt x="250287" y="-3121"/>
                  <a:pt x="305151" y="689"/>
                </a:cubicBezTo>
                <a:lnTo>
                  <a:pt x="305151" y="6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图形 16"/>
          <p:cNvSpPr/>
          <p:nvPr>
            <p:custDataLst>
              <p:tags r:id="rId12"/>
            </p:custDataLst>
          </p:nvPr>
        </p:nvSpPr>
        <p:spPr>
          <a:xfrm>
            <a:off x="7713345" y="0"/>
            <a:ext cx="3648710" cy="3936365"/>
          </a:xfrm>
          <a:custGeom>
            <a:avLst/>
            <a:gdLst>
              <a:gd name="connsiteX0" fmla="*/ 4671 w 2738556"/>
              <a:gd name="connsiteY0" fmla="*/ 0 h 2954675"/>
              <a:gd name="connsiteX1" fmla="*/ 1087663 w 2738556"/>
              <a:gd name="connsiteY1" fmla="*/ 0 h 2954675"/>
              <a:gd name="connsiteX2" fmla="*/ 1079662 w 2738556"/>
              <a:gd name="connsiteY2" fmla="*/ 159068 h 2954675"/>
              <a:gd name="connsiteX3" fmla="*/ 2359727 w 2738556"/>
              <a:gd name="connsiteY3" fmla="*/ 1900523 h 2954675"/>
              <a:gd name="connsiteX4" fmla="*/ 2713962 w 2738556"/>
              <a:gd name="connsiteY4" fmla="*/ 2575846 h 2954675"/>
              <a:gd name="connsiteX5" fmla="*/ 2038639 w 2738556"/>
              <a:gd name="connsiteY5" fmla="*/ 2930081 h 2954675"/>
              <a:gd name="connsiteX6" fmla="*/ 333378 w 2738556"/>
              <a:gd name="connsiteY6" fmla="*/ 1507998 h 2954675"/>
              <a:gd name="connsiteX7" fmla="*/ 99 w 2738556"/>
              <a:gd name="connsiteY7" fmla="*/ 140399 h 2954675"/>
              <a:gd name="connsiteX8" fmla="*/ 4671 w 2738556"/>
              <a:gd name="connsiteY8" fmla="*/ 0 h 295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56" h="2954675">
                <a:moveTo>
                  <a:pt x="4671" y="0"/>
                </a:moveTo>
                <a:lnTo>
                  <a:pt x="1087663" y="0"/>
                </a:lnTo>
                <a:cubicBezTo>
                  <a:pt x="1087663" y="0"/>
                  <a:pt x="1079662" y="159068"/>
                  <a:pt x="1079662" y="159068"/>
                </a:cubicBezTo>
                <a:cubicBezTo>
                  <a:pt x="1079472" y="935736"/>
                  <a:pt x="1580201" y="1657350"/>
                  <a:pt x="2359727" y="1900523"/>
                </a:cubicBezTo>
                <a:cubicBezTo>
                  <a:pt x="2643953" y="1989201"/>
                  <a:pt x="2802639" y="2291620"/>
                  <a:pt x="2713962" y="2575846"/>
                </a:cubicBezTo>
                <a:cubicBezTo>
                  <a:pt x="2625284" y="2860072"/>
                  <a:pt x="2322865" y="3018758"/>
                  <a:pt x="2038639" y="2930081"/>
                </a:cubicBezTo>
                <a:cubicBezTo>
                  <a:pt x="1298928" y="2699290"/>
                  <a:pt x="693328" y="2194274"/>
                  <a:pt x="333378" y="1507998"/>
                </a:cubicBezTo>
                <a:cubicBezTo>
                  <a:pt x="108398" y="1079087"/>
                  <a:pt x="-3807" y="611410"/>
                  <a:pt x="99" y="140399"/>
                </a:cubicBezTo>
                <a:lnTo>
                  <a:pt x="467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1068110" y="1415134"/>
            <a:ext cx="6217877" cy="2610488"/>
          </a:xfrm>
          <a:noFill/>
        </p:spPr>
        <p:txBody>
          <a:bodyPr wrap="square" anchor="b" anchorCtr="0">
            <a:normAutofit/>
          </a:bodyPr>
          <a:lstStyle>
            <a:lvl1pPr>
              <a:defRPr lang="zh-CN" altLang="en-US" sz="6000" dirty="0">
                <a:solidFill>
                  <a:schemeClr val="tx2"/>
                </a:solidFill>
                <a:latin typeface="+mj-ea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</a:t>
            </a:r>
            <a:br>
              <a:rPr lang="en-US" altLang="zh-CN" dirty="0"/>
            </a:br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1442126" y="523878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068109" y="4481316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>
            <p:custDataLst>
              <p:tags r:id="rId3"/>
            </p:custDataLst>
          </p:nvPr>
        </p:nvSpPr>
        <p:spPr>
          <a:xfrm flipV="1">
            <a:off x="10654388" y="5436721"/>
            <a:ext cx="1537612" cy="1421279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gradFill>
            <a:gsLst>
              <a:gs pos="14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4"/>
            </p:custDataLst>
          </p:nvPr>
        </p:nvSpPr>
        <p:spPr>
          <a:xfrm>
            <a:off x="11353800" y="1026561"/>
            <a:ext cx="70184" cy="305594"/>
          </a:xfrm>
          <a:custGeom>
            <a:avLst/>
            <a:gdLst>
              <a:gd name="connsiteX0" fmla="*/ 35092 w 70184"/>
              <a:gd name="connsiteY0" fmla="*/ 235410 h 305594"/>
              <a:gd name="connsiteX1" fmla="*/ 70184 w 70184"/>
              <a:gd name="connsiteY1" fmla="*/ 270502 h 305594"/>
              <a:gd name="connsiteX2" fmla="*/ 35092 w 70184"/>
              <a:gd name="connsiteY2" fmla="*/ 305594 h 305594"/>
              <a:gd name="connsiteX3" fmla="*/ 0 w 70184"/>
              <a:gd name="connsiteY3" fmla="*/ 270502 h 305594"/>
              <a:gd name="connsiteX4" fmla="*/ 35092 w 70184"/>
              <a:gd name="connsiteY4" fmla="*/ 235410 h 305594"/>
              <a:gd name="connsiteX5" fmla="*/ 35092 w 70184"/>
              <a:gd name="connsiteY5" fmla="*/ 117705 h 305594"/>
              <a:gd name="connsiteX6" fmla="*/ 70184 w 70184"/>
              <a:gd name="connsiteY6" fmla="*/ 152797 h 305594"/>
              <a:gd name="connsiteX7" fmla="*/ 35092 w 70184"/>
              <a:gd name="connsiteY7" fmla="*/ 187889 h 305594"/>
              <a:gd name="connsiteX8" fmla="*/ 0 w 70184"/>
              <a:gd name="connsiteY8" fmla="*/ 152797 h 305594"/>
              <a:gd name="connsiteX9" fmla="*/ 35092 w 70184"/>
              <a:gd name="connsiteY9" fmla="*/ 117705 h 305594"/>
              <a:gd name="connsiteX10" fmla="*/ 35092 w 70184"/>
              <a:gd name="connsiteY10" fmla="*/ 0 h 305594"/>
              <a:gd name="connsiteX11" fmla="*/ 70184 w 70184"/>
              <a:gd name="connsiteY11" fmla="*/ 35092 h 305594"/>
              <a:gd name="connsiteX12" fmla="*/ 35092 w 70184"/>
              <a:gd name="connsiteY12" fmla="*/ 70184 h 305594"/>
              <a:gd name="connsiteX13" fmla="*/ 0 w 70184"/>
              <a:gd name="connsiteY13" fmla="*/ 35092 h 305594"/>
              <a:gd name="connsiteX14" fmla="*/ 35092 w 70184"/>
              <a:gd name="connsiteY14" fmla="*/ 0 h 305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184" h="305594">
                <a:moveTo>
                  <a:pt x="35092" y="235410"/>
                </a:moveTo>
                <a:cubicBezTo>
                  <a:pt x="54473" y="235410"/>
                  <a:pt x="70184" y="251121"/>
                  <a:pt x="70184" y="270502"/>
                </a:cubicBezTo>
                <a:cubicBezTo>
                  <a:pt x="70184" y="289883"/>
                  <a:pt x="54473" y="305594"/>
                  <a:pt x="35092" y="305594"/>
                </a:cubicBezTo>
                <a:cubicBezTo>
                  <a:pt x="15711" y="305594"/>
                  <a:pt x="0" y="289883"/>
                  <a:pt x="0" y="270502"/>
                </a:cubicBezTo>
                <a:cubicBezTo>
                  <a:pt x="0" y="251121"/>
                  <a:pt x="15711" y="235410"/>
                  <a:pt x="35092" y="235410"/>
                </a:cubicBezTo>
                <a:close/>
                <a:moveTo>
                  <a:pt x="35092" y="117705"/>
                </a:moveTo>
                <a:cubicBezTo>
                  <a:pt x="54473" y="117705"/>
                  <a:pt x="70184" y="133416"/>
                  <a:pt x="70184" y="152797"/>
                </a:cubicBezTo>
                <a:cubicBezTo>
                  <a:pt x="70184" y="172178"/>
                  <a:pt x="54473" y="187889"/>
                  <a:pt x="35092" y="187889"/>
                </a:cubicBezTo>
                <a:cubicBezTo>
                  <a:pt x="15711" y="187889"/>
                  <a:pt x="0" y="172178"/>
                  <a:pt x="0" y="152797"/>
                </a:cubicBezTo>
                <a:cubicBezTo>
                  <a:pt x="0" y="133416"/>
                  <a:pt x="15711" y="117705"/>
                  <a:pt x="35092" y="117705"/>
                </a:cubicBezTo>
                <a:close/>
                <a:moveTo>
                  <a:pt x="35092" y="0"/>
                </a:moveTo>
                <a:cubicBezTo>
                  <a:pt x="54473" y="0"/>
                  <a:pt x="70184" y="15711"/>
                  <a:pt x="70184" y="35092"/>
                </a:cubicBezTo>
                <a:cubicBezTo>
                  <a:pt x="70184" y="54473"/>
                  <a:pt x="54473" y="70184"/>
                  <a:pt x="35092" y="70184"/>
                </a:cubicBezTo>
                <a:cubicBezTo>
                  <a:pt x="15711" y="70184"/>
                  <a:pt x="0" y="54473"/>
                  <a:pt x="0" y="35092"/>
                </a:cubicBezTo>
                <a:cubicBezTo>
                  <a:pt x="0" y="15711"/>
                  <a:pt x="15711" y="0"/>
                  <a:pt x="350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图形 12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2095499" cy="2260811"/>
          </a:xfrm>
          <a:custGeom>
            <a:avLst/>
            <a:gdLst>
              <a:gd name="connsiteX0" fmla="*/ 2815 w 1616032"/>
              <a:gd name="connsiteY0" fmla="*/ 0 h 1743519"/>
              <a:gd name="connsiteX1" fmla="*/ 641847 w 1616032"/>
              <a:gd name="connsiteY1" fmla="*/ 0 h 1743519"/>
              <a:gd name="connsiteX2" fmla="*/ 637180 w 1616032"/>
              <a:gd name="connsiteY2" fmla="*/ 93917 h 1743519"/>
              <a:gd name="connsiteX3" fmla="*/ 1392513 w 1616032"/>
              <a:gd name="connsiteY3" fmla="*/ 1121474 h 1743519"/>
              <a:gd name="connsiteX4" fmla="*/ 1601491 w 1616032"/>
              <a:gd name="connsiteY4" fmla="*/ 1520000 h 1743519"/>
              <a:gd name="connsiteX5" fmla="*/ 1202965 w 1616032"/>
              <a:gd name="connsiteY5" fmla="*/ 1728978 h 1743519"/>
              <a:gd name="connsiteX6" fmla="*/ 196744 w 1616032"/>
              <a:gd name="connsiteY6" fmla="*/ 889826 h 1743519"/>
              <a:gd name="connsiteX7" fmla="*/ 53 w 1616032"/>
              <a:gd name="connsiteY7" fmla="*/ 82868 h 1743519"/>
              <a:gd name="connsiteX8" fmla="*/ 2815 w 1616032"/>
              <a:gd name="connsiteY8" fmla="*/ 0 h 1743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6032" h="1743519">
                <a:moveTo>
                  <a:pt x="2815" y="0"/>
                </a:moveTo>
                <a:lnTo>
                  <a:pt x="641847" y="0"/>
                </a:lnTo>
                <a:cubicBezTo>
                  <a:pt x="641847" y="0"/>
                  <a:pt x="637180" y="93917"/>
                  <a:pt x="637180" y="93917"/>
                </a:cubicBezTo>
                <a:cubicBezTo>
                  <a:pt x="637085" y="552164"/>
                  <a:pt x="932550" y="978027"/>
                  <a:pt x="1392513" y="1121474"/>
                </a:cubicBezTo>
                <a:cubicBezTo>
                  <a:pt x="1560248" y="1173766"/>
                  <a:pt x="1653879" y="1352264"/>
                  <a:pt x="1601491" y="1520000"/>
                </a:cubicBezTo>
                <a:cubicBezTo>
                  <a:pt x="1549199" y="1687735"/>
                  <a:pt x="1370700" y="1781366"/>
                  <a:pt x="1202965" y="1728978"/>
                </a:cubicBezTo>
                <a:cubicBezTo>
                  <a:pt x="766434" y="1592866"/>
                  <a:pt x="409151" y="1294829"/>
                  <a:pt x="196744" y="889826"/>
                </a:cubicBezTo>
                <a:cubicBezTo>
                  <a:pt x="63965" y="636746"/>
                  <a:pt x="-2138" y="360807"/>
                  <a:pt x="53" y="82868"/>
                </a:cubicBezTo>
                <a:lnTo>
                  <a:pt x="2815" y="0"/>
                </a:lnTo>
                <a:close/>
              </a:path>
            </a:pathLst>
          </a:cu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: 形状 3"/>
          <p:cNvSpPr/>
          <p:nvPr>
            <p:custDataLst>
              <p:tags r:id="rId6"/>
            </p:custDataLst>
          </p:nvPr>
        </p:nvSpPr>
        <p:spPr>
          <a:xfrm flipH="1">
            <a:off x="1" y="331978"/>
            <a:ext cx="767050" cy="815541"/>
          </a:xfrm>
          <a:custGeom>
            <a:avLst/>
            <a:gdLst>
              <a:gd name="connsiteX0" fmla="*/ 266085 w 960878"/>
              <a:gd name="connsiteY0" fmla="*/ 601 h 1021622"/>
              <a:gd name="connsiteX1" fmla="*/ 124392 w 960878"/>
              <a:gd name="connsiteY1" fmla="*/ 33408 h 1021622"/>
              <a:gd name="connsiteX2" fmla="*/ 33363 w 960878"/>
              <a:gd name="connsiteY2" fmla="*/ 373190 h 1021622"/>
              <a:gd name="connsiteX3" fmla="*/ 846063 w 960878"/>
              <a:gd name="connsiteY3" fmla="*/ 996773 h 1021622"/>
              <a:gd name="connsiteX4" fmla="*/ 960878 w 960878"/>
              <a:gd name="connsiteY4" fmla="*/ 1021622 h 1021622"/>
              <a:gd name="connsiteX5" fmla="*/ 960878 w 960878"/>
              <a:gd name="connsiteY5" fmla="*/ 510304 h 1021622"/>
              <a:gd name="connsiteX6" fmla="*/ 860484 w 960878"/>
              <a:gd name="connsiteY6" fmla="*/ 476220 h 1021622"/>
              <a:gd name="connsiteX7" fmla="*/ 464256 w 960878"/>
              <a:gd name="connsiteY7" fmla="*/ 124437 h 1021622"/>
              <a:gd name="connsiteX8" fmla="*/ 266085 w 960878"/>
              <a:gd name="connsiteY8" fmla="*/ 601 h 10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0878" h="1021622">
                <a:moveTo>
                  <a:pt x="266085" y="601"/>
                </a:moveTo>
                <a:cubicBezTo>
                  <a:pt x="218244" y="-2721"/>
                  <a:pt x="168993" y="7661"/>
                  <a:pt x="124392" y="33408"/>
                </a:cubicBezTo>
                <a:cubicBezTo>
                  <a:pt x="5456" y="102096"/>
                  <a:pt x="-35325" y="254254"/>
                  <a:pt x="33363" y="373190"/>
                </a:cubicBezTo>
                <a:cubicBezTo>
                  <a:pt x="212099" y="682822"/>
                  <a:pt x="500718" y="904248"/>
                  <a:pt x="846063" y="996773"/>
                </a:cubicBezTo>
                <a:lnTo>
                  <a:pt x="960878" y="1021622"/>
                </a:lnTo>
                <a:lnTo>
                  <a:pt x="960878" y="510304"/>
                </a:lnTo>
                <a:lnTo>
                  <a:pt x="860484" y="476220"/>
                </a:lnTo>
                <a:cubicBezTo>
                  <a:pt x="699387" y="407201"/>
                  <a:pt x="558441" y="287559"/>
                  <a:pt x="464256" y="124437"/>
                </a:cubicBezTo>
                <a:cubicBezTo>
                  <a:pt x="421317" y="50019"/>
                  <a:pt x="345735" y="6249"/>
                  <a:pt x="266085" y="60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椭圆 14"/>
          <p:cNvSpPr/>
          <p:nvPr>
            <p:custDataLst>
              <p:tags r:id="rId7"/>
            </p:custDataLst>
          </p:nvPr>
        </p:nvSpPr>
        <p:spPr>
          <a:xfrm>
            <a:off x="102870" y="140335"/>
            <a:ext cx="171450" cy="171450"/>
          </a:xfrm>
          <a:prstGeom prst="ellipse">
            <a:avLst/>
          </a:prstGeom>
          <a:gradFill flip="none" rotWithShape="1">
            <a:gsLst>
              <a:gs pos="76000">
                <a:schemeClr val="accent1"/>
              </a:gs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27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8"/>
            </p:custDataLst>
          </p:nvPr>
        </p:nvSpPr>
        <p:spPr>
          <a:xfrm>
            <a:off x="1499843" y="1269396"/>
            <a:ext cx="546697" cy="546697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9283700" y="547696"/>
            <a:ext cx="1814518" cy="1263324"/>
          </a:xfrm>
          <a:noFill/>
        </p:spPr>
        <p:txBody>
          <a:bodyPr vert="horz" wrap="square" rtlCol="0" anchor="ctr" anchorCtr="0">
            <a:normAutofit/>
          </a:bodyPr>
          <a:lstStyle>
            <a:lvl1pPr algn="ctr">
              <a:defRPr lang="zh-CN" altLang="en-US" sz="6000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62000">
                      <a:schemeClr val="accent1"/>
                    </a:gs>
                  </a:gsLst>
                  <a:lin ang="2700000" scaled="1"/>
                </a:gradFill>
              </a:defRPr>
            </a:lvl1pPr>
          </a:lstStyle>
          <a:p>
            <a:pPr marL="0" lvl="0" algn="r"/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形 23"/>
          <p:cNvSpPr/>
          <p:nvPr>
            <p:custDataLst>
              <p:tags r:id="rId3"/>
            </p:custDataLst>
          </p:nvPr>
        </p:nvSpPr>
        <p:spPr>
          <a:xfrm>
            <a:off x="1068515" y="803142"/>
            <a:ext cx="4202128" cy="4488048"/>
          </a:xfrm>
          <a:custGeom>
            <a:avLst/>
            <a:gdLst>
              <a:gd name="connsiteX0" fmla="*/ 585922 w 3326429"/>
              <a:gd name="connsiteY0" fmla="*/ 283866 h 3552767"/>
              <a:gd name="connsiteX1" fmla="*/ 3042610 w 3326429"/>
              <a:gd name="connsiteY1" fmla="*/ 812123 h 3552767"/>
              <a:gd name="connsiteX2" fmla="*/ 2514258 w 3326429"/>
              <a:gd name="connsiteY2" fmla="*/ 3268906 h 3552767"/>
              <a:gd name="connsiteX3" fmla="*/ 57475 w 3326429"/>
              <a:gd name="connsiteY3" fmla="*/ 2740554 h 3552767"/>
              <a:gd name="connsiteX4" fmla="*/ 164250 w 3326429"/>
              <a:gd name="connsiteY4" fmla="*/ 2244302 h 3552767"/>
              <a:gd name="connsiteX5" fmla="*/ 660503 w 3326429"/>
              <a:gd name="connsiteY5" fmla="*/ 2351077 h 3552767"/>
              <a:gd name="connsiteX6" fmla="*/ 2124686 w 3326429"/>
              <a:gd name="connsiteY6" fmla="*/ 2665974 h 3552767"/>
              <a:gd name="connsiteX7" fmla="*/ 2439582 w 3326429"/>
              <a:gd name="connsiteY7" fmla="*/ 1201790 h 3552767"/>
              <a:gd name="connsiteX8" fmla="*/ 975399 w 3326429"/>
              <a:gd name="connsiteY8" fmla="*/ 886894 h 3552767"/>
              <a:gd name="connsiteX9" fmla="*/ 479147 w 3326429"/>
              <a:gd name="connsiteY9" fmla="*/ 780119 h 3552767"/>
              <a:gd name="connsiteX10" fmla="*/ 585922 w 3326429"/>
              <a:gd name="connsiteY10" fmla="*/ 283866 h 3552767"/>
              <a:gd name="connsiteX11" fmla="*/ 585922 w 3326429"/>
              <a:gd name="connsiteY11" fmla="*/ 283866 h 3552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26429" h="3552767">
                <a:moveTo>
                  <a:pt x="585922" y="283866"/>
                </a:moveTo>
                <a:cubicBezTo>
                  <a:pt x="1408977" y="-247819"/>
                  <a:pt x="2511020" y="-10742"/>
                  <a:pt x="3042610" y="812123"/>
                </a:cubicBezTo>
                <a:cubicBezTo>
                  <a:pt x="3574200" y="1634987"/>
                  <a:pt x="3337218" y="2737220"/>
                  <a:pt x="2514258" y="3268906"/>
                </a:cubicBezTo>
                <a:cubicBezTo>
                  <a:pt x="1691203" y="3800592"/>
                  <a:pt x="589160" y="3563514"/>
                  <a:pt x="57475" y="2740554"/>
                </a:cubicBezTo>
                <a:cubicBezTo>
                  <a:pt x="-50062" y="2574057"/>
                  <a:pt x="-2342" y="2351839"/>
                  <a:pt x="164250" y="2244302"/>
                </a:cubicBezTo>
                <a:cubicBezTo>
                  <a:pt x="330747" y="2136764"/>
                  <a:pt x="552965" y="2184485"/>
                  <a:pt x="660503" y="2351077"/>
                </a:cubicBezTo>
                <a:cubicBezTo>
                  <a:pt x="977304" y="2841519"/>
                  <a:pt x="1634148" y="2982870"/>
                  <a:pt x="2124686" y="2665974"/>
                </a:cubicBezTo>
                <a:cubicBezTo>
                  <a:pt x="2615223" y="2349077"/>
                  <a:pt x="2756479" y="1692328"/>
                  <a:pt x="2439582" y="1201790"/>
                </a:cubicBezTo>
                <a:cubicBezTo>
                  <a:pt x="2122686" y="711253"/>
                  <a:pt x="1465937" y="569997"/>
                  <a:pt x="975399" y="886894"/>
                </a:cubicBezTo>
                <a:cubicBezTo>
                  <a:pt x="808902" y="994431"/>
                  <a:pt x="586684" y="946711"/>
                  <a:pt x="479147" y="780119"/>
                </a:cubicBezTo>
                <a:cubicBezTo>
                  <a:pt x="371609" y="613622"/>
                  <a:pt x="419330" y="391403"/>
                  <a:pt x="585922" y="283866"/>
                </a:cubicBezTo>
                <a:lnTo>
                  <a:pt x="585922" y="28386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8469650" y="2639425"/>
            <a:ext cx="2477770" cy="334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图形 13"/>
          <p:cNvSpPr/>
          <p:nvPr>
            <p:custDataLst>
              <p:tags r:id="rId5"/>
            </p:custDataLst>
          </p:nvPr>
        </p:nvSpPr>
        <p:spPr>
          <a:xfrm>
            <a:off x="1312042" y="1331347"/>
            <a:ext cx="3352258" cy="3352256"/>
          </a:xfrm>
          <a:custGeom>
            <a:avLst/>
            <a:gdLst>
              <a:gd name="connsiteX0" fmla="*/ 1509808 w 3019615"/>
              <a:gd name="connsiteY0" fmla="*/ 3019520 h 3019615"/>
              <a:gd name="connsiteX1" fmla="*/ 0 w 3019615"/>
              <a:gd name="connsiteY1" fmla="*/ 1509808 h 3019615"/>
              <a:gd name="connsiteX2" fmla="*/ 1509808 w 3019615"/>
              <a:gd name="connsiteY2" fmla="*/ 0 h 3019615"/>
              <a:gd name="connsiteX3" fmla="*/ 3019616 w 3019615"/>
              <a:gd name="connsiteY3" fmla="*/ 1509808 h 3019615"/>
              <a:gd name="connsiteX4" fmla="*/ 2638616 w 3019615"/>
              <a:gd name="connsiteY4" fmla="*/ 1890808 h 3019615"/>
              <a:gd name="connsiteX5" fmla="*/ 2257616 w 3019615"/>
              <a:gd name="connsiteY5" fmla="*/ 1509808 h 3019615"/>
              <a:gd name="connsiteX6" fmla="*/ 1509808 w 3019615"/>
              <a:gd name="connsiteY6" fmla="*/ 762000 h 3019615"/>
              <a:gd name="connsiteX7" fmla="*/ 762000 w 3019615"/>
              <a:gd name="connsiteY7" fmla="*/ 1509808 h 3019615"/>
              <a:gd name="connsiteX8" fmla="*/ 1509808 w 3019615"/>
              <a:gd name="connsiteY8" fmla="*/ 2257616 h 3019615"/>
              <a:gd name="connsiteX9" fmla="*/ 1890808 w 3019615"/>
              <a:gd name="connsiteY9" fmla="*/ 2638616 h 3019615"/>
              <a:gd name="connsiteX10" fmla="*/ 1509808 w 3019615"/>
              <a:gd name="connsiteY10" fmla="*/ 3019616 h 301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9615" h="3019615">
                <a:moveTo>
                  <a:pt x="1509808" y="3019520"/>
                </a:moveTo>
                <a:cubicBezTo>
                  <a:pt x="677323" y="3019520"/>
                  <a:pt x="0" y="2342293"/>
                  <a:pt x="0" y="1509808"/>
                </a:cubicBezTo>
                <a:cubicBezTo>
                  <a:pt x="0" y="677323"/>
                  <a:pt x="677323" y="0"/>
                  <a:pt x="1509808" y="0"/>
                </a:cubicBezTo>
                <a:cubicBezTo>
                  <a:pt x="2342293" y="0"/>
                  <a:pt x="3019616" y="677323"/>
                  <a:pt x="3019616" y="1509808"/>
                </a:cubicBezTo>
                <a:cubicBezTo>
                  <a:pt x="3019616" y="1720215"/>
                  <a:pt x="2849023" y="1890808"/>
                  <a:pt x="2638616" y="1890808"/>
                </a:cubicBezTo>
                <a:cubicBezTo>
                  <a:pt x="2428208" y="1890808"/>
                  <a:pt x="2257616" y="1720215"/>
                  <a:pt x="2257616" y="1509808"/>
                </a:cubicBezTo>
                <a:cubicBezTo>
                  <a:pt x="2257616" y="1097471"/>
                  <a:pt x="1922145" y="762000"/>
                  <a:pt x="1509808" y="762000"/>
                </a:cubicBezTo>
                <a:cubicBezTo>
                  <a:pt x="1097471" y="762000"/>
                  <a:pt x="762000" y="1097471"/>
                  <a:pt x="762000" y="1509808"/>
                </a:cubicBezTo>
                <a:cubicBezTo>
                  <a:pt x="762000" y="1922145"/>
                  <a:pt x="1097471" y="2257616"/>
                  <a:pt x="1509808" y="2257616"/>
                </a:cubicBezTo>
                <a:cubicBezTo>
                  <a:pt x="1720215" y="2257616"/>
                  <a:pt x="1890808" y="2428208"/>
                  <a:pt x="1890808" y="2638616"/>
                </a:cubicBezTo>
                <a:cubicBezTo>
                  <a:pt x="1890808" y="2849023"/>
                  <a:pt x="1720215" y="3019616"/>
                  <a:pt x="1509808" y="301961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80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11778000" y="2356902"/>
            <a:ext cx="0" cy="2871449"/>
          </a:xfrm>
          <a:prstGeom prst="line">
            <a:avLst/>
          </a:prstGeom>
          <a:ln>
            <a:solidFill>
              <a:schemeClr val="accent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>
            <p:custDataLst>
              <p:tags r:id="rId7"/>
            </p:custDataLst>
          </p:nvPr>
        </p:nvSpPr>
        <p:spPr>
          <a:xfrm>
            <a:off x="2620121" y="2639425"/>
            <a:ext cx="736100" cy="736100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4745253" y="3924161"/>
            <a:ext cx="444436" cy="444436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任意多边形: 形状 15"/>
          <p:cNvSpPr/>
          <p:nvPr>
            <p:custDataLst>
              <p:tags r:id="rId9"/>
            </p:custDataLst>
          </p:nvPr>
        </p:nvSpPr>
        <p:spPr>
          <a:xfrm flipH="1" flipV="1">
            <a:off x="0" y="0"/>
            <a:ext cx="1259205" cy="833120"/>
          </a:xfrm>
          <a:custGeom>
            <a:avLst/>
            <a:gdLst>
              <a:gd name="connsiteX0" fmla="*/ 1259430 w 1259430"/>
              <a:gd name="connsiteY0" fmla="*/ 833045 h 833045"/>
              <a:gd name="connsiteX1" fmla="*/ 0 w 1259430"/>
              <a:gd name="connsiteY1" fmla="*/ 833045 h 833045"/>
              <a:gd name="connsiteX2" fmla="*/ 10126 w 1259430"/>
              <a:gd name="connsiteY2" fmla="*/ 819504 h 833045"/>
              <a:gd name="connsiteX3" fmla="*/ 1126137 w 1259430"/>
              <a:gd name="connsiteY3" fmla="*/ 38726 h 833045"/>
              <a:gd name="connsiteX4" fmla="*/ 1259430 w 1259430"/>
              <a:gd name="connsiteY4" fmla="*/ 0 h 83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9430" h="833045">
                <a:moveTo>
                  <a:pt x="1259430" y="833045"/>
                </a:moveTo>
                <a:lnTo>
                  <a:pt x="0" y="833045"/>
                </a:lnTo>
                <a:lnTo>
                  <a:pt x="10126" y="819504"/>
                </a:lnTo>
                <a:cubicBezTo>
                  <a:pt x="301323" y="466655"/>
                  <a:pt x="685952" y="193770"/>
                  <a:pt x="1126137" y="38726"/>
                </a:cubicBezTo>
                <a:lnTo>
                  <a:pt x="125943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482507" y="4643034"/>
            <a:ext cx="217666" cy="217664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1"/>
            </p:custDataLst>
          </p:nvPr>
        </p:nvCxnSpPr>
        <p:spPr>
          <a:xfrm>
            <a:off x="1069698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2"/>
            </p:custDataLst>
          </p:nvPr>
        </p:nvCxnSpPr>
        <p:spPr>
          <a:xfrm>
            <a:off x="1069698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3"/>
            </p:custDataLst>
          </p:nvPr>
        </p:nvCxnSpPr>
        <p:spPr>
          <a:xfrm>
            <a:off x="1069698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514170" y="3048024"/>
            <a:ext cx="5412458" cy="1759920"/>
          </a:xfrm>
        </p:spPr>
        <p:txBody>
          <a:bodyPr wrap="square" anchor="b">
            <a:normAutofit/>
          </a:bodyPr>
          <a:lstStyle>
            <a:lvl1pPr algn="r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575549" y="966615"/>
            <a:ext cx="4351080" cy="2062700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8000" b="1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40000">
                      <a:schemeClr val="accent1"/>
                    </a:gs>
                  </a:gsLst>
                  <a:lin ang="2700000" scaled="1"/>
                  <a:tileRect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>
            <p:custDataLst>
              <p:tags r:id="rId3"/>
            </p:custDataLst>
          </p:nvPr>
        </p:nvSpPr>
        <p:spPr>
          <a:xfrm flipV="1">
            <a:off x="10733104" y="5509481"/>
            <a:ext cx="1458895" cy="1348518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任意多边形: 形状 6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5272405" cy="48736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3750945" cy="36417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 flipH="1">
            <a:off x="4859423" y="917634"/>
            <a:ext cx="288925" cy="28892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任意多边形: 形状 14"/>
          <p:cNvSpPr/>
          <p:nvPr>
            <p:custDataLst>
              <p:tags r:id="rId7"/>
            </p:custDataLst>
          </p:nvPr>
        </p:nvSpPr>
        <p:spPr>
          <a:xfrm flipH="1">
            <a:off x="0" y="0"/>
            <a:ext cx="2228850" cy="2164080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6" name="图形 24"/>
          <p:cNvSpPr/>
          <p:nvPr>
            <p:custDataLst>
              <p:tags r:id="rId8"/>
            </p:custDataLst>
          </p:nvPr>
        </p:nvSpPr>
        <p:spPr>
          <a:xfrm flipH="1">
            <a:off x="0" y="589915"/>
            <a:ext cx="2228850" cy="1643380"/>
          </a:xfrm>
          <a:custGeom>
            <a:avLst/>
            <a:gdLst>
              <a:gd name="connsiteX0" fmla="*/ 305151 w 1622268"/>
              <a:gd name="connsiteY0" fmla="*/ 689 h 1196098"/>
              <a:gd name="connsiteX1" fmla="*/ 532418 w 1622268"/>
              <a:gd name="connsiteY1" fmla="*/ 142707 h 1196098"/>
              <a:gd name="connsiteX2" fmla="*/ 1579882 w 1622268"/>
              <a:gd name="connsiteY2" fmla="*/ 601241 h 1196098"/>
              <a:gd name="connsiteX3" fmla="*/ 1622269 w 1622268"/>
              <a:gd name="connsiteY3" fmla="*/ 589430 h 1196098"/>
              <a:gd name="connsiteX4" fmla="*/ 1622269 w 1622268"/>
              <a:gd name="connsiteY4" fmla="*/ 1173217 h 1196098"/>
              <a:gd name="connsiteX5" fmla="*/ 1567976 w 1622268"/>
              <a:gd name="connsiteY5" fmla="*/ 1183123 h 1196098"/>
              <a:gd name="connsiteX6" fmla="*/ 970282 w 1622268"/>
              <a:gd name="connsiteY6" fmla="*/ 1143118 h 1196098"/>
              <a:gd name="connsiteX7" fmla="*/ 38261 w 1622268"/>
              <a:gd name="connsiteY7" fmla="*/ 427981 h 1196098"/>
              <a:gd name="connsiteX8" fmla="*/ 142655 w 1622268"/>
              <a:gd name="connsiteY8" fmla="*/ 38313 h 1196098"/>
              <a:gd name="connsiteX9" fmla="*/ 305151 w 1622268"/>
              <a:gd name="connsiteY9" fmla="*/ 689 h 1196098"/>
              <a:gd name="connsiteX10" fmla="*/ 305151 w 1622268"/>
              <a:gd name="connsiteY10" fmla="*/ 689 h 119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2268" h="1196098">
                <a:moveTo>
                  <a:pt x="305151" y="689"/>
                </a:moveTo>
                <a:cubicBezTo>
                  <a:pt x="396496" y="7166"/>
                  <a:pt x="483174" y="57363"/>
                  <a:pt x="532418" y="142707"/>
                </a:cubicBezTo>
                <a:cubicBezTo>
                  <a:pt x="748445" y="516849"/>
                  <a:pt x="1178975" y="691538"/>
                  <a:pt x="1579882" y="601241"/>
                </a:cubicBezTo>
                <a:lnTo>
                  <a:pt x="1622269" y="589430"/>
                </a:lnTo>
                <a:lnTo>
                  <a:pt x="1622269" y="1173217"/>
                </a:lnTo>
                <a:cubicBezTo>
                  <a:pt x="1622269" y="1173217"/>
                  <a:pt x="1567976" y="1183123"/>
                  <a:pt x="1567976" y="1183123"/>
                </a:cubicBezTo>
                <a:cubicBezTo>
                  <a:pt x="1370713" y="1209126"/>
                  <a:pt x="1168307" y="1196172"/>
                  <a:pt x="970282" y="1143118"/>
                </a:cubicBezTo>
                <a:cubicBezTo>
                  <a:pt x="574233" y="1037009"/>
                  <a:pt x="243239" y="783073"/>
                  <a:pt x="38261" y="427981"/>
                </a:cubicBezTo>
                <a:cubicBezTo>
                  <a:pt x="-40511" y="291583"/>
                  <a:pt x="6257" y="117085"/>
                  <a:pt x="142655" y="38313"/>
                </a:cubicBezTo>
                <a:cubicBezTo>
                  <a:pt x="193804" y="8786"/>
                  <a:pt x="250287" y="-3121"/>
                  <a:pt x="305151" y="689"/>
                </a:cubicBezTo>
                <a:lnTo>
                  <a:pt x="305151" y="6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图形 16"/>
          <p:cNvSpPr/>
          <p:nvPr>
            <p:custDataLst>
              <p:tags r:id="rId9"/>
            </p:custDataLst>
          </p:nvPr>
        </p:nvSpPr>
        <p:spPr>
          <a:xfrm flipH="1">
            <a:off x="829945" y="0"/>
            <a:ext cx="3648710" cy="3936365"/>
          </a:xfrm>
          <a:custGeom>
            <a:avLst/>
            <a:gdLst>
              <a:gd name="connsiteX0" fmla="*/ 4671 w 2738556"/>
              <a:gd name="connsiteY0" fmla="*/ 0 h 2954675"/>
              <a:gd name="connsiteX1" fmla="*/ 1087663 w 2738556"/>
              <a:gd name="connsiteY1" fmla="*/ 0 h 2954675"/>
              <a:gd name="connsiteX2" fmla="*/ 1079662 w 2738556"/>
              <a:gd name="connsiteY2" fmla="*/ 159068 h 2954675"/>
              <a:gd name="connsiteX3" fmla="*/ 2359727 w 2738556"/>
              <a:gd name="connsiteY3" fmla="*/ 1900523 h 2954675"/>
              <a:gd name="connsiteX4" fmla="*/ 2713962 w 2738556"/>
              <a:gd name="connsiteY4" fmla="*/ 2575846 h 2954675"/>
              <a:gd name="connsiteX5" fmla="*/ 2038639 w 2738556"/>
              <a:gd name="connsiteY5" fmla="*/ 2930081 h 2954675"/>
              <a:gd name="connsiteX6" fmla="*/ 333378 w 2738556"/>
              <a:gd name="connsiteY6" fmla="*/ 1507998 h 2954675"/>
              <a:gd name="connsiteX7" fmla="*/ 99 w 2738556"/>
              <a:gd name="connsiteY7" fmla="*/ 140399 h 2954675"/>
              <a:gd name="connsiteX8" fmla="*/ 4671 w 2738556"/>
              <a:gd name="connsiteY8" fmla="*/ 0 h 295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56" h="2954675">
                <a:moveTo>
                  <a:pt x="4671" y="0"/>
                </a:moveTo>
                <a:lnTo>
                  <a:pt x="1087663" y="0"/>
                </a:lnTo>
                <a:cubicBezTo>
                  <a:pt x="1087663" y="0"/>
                  <a:pt x="1079662" y="159068"/>
                  <a:pt x="1079662" y="159068"/>
                </a:cubicBezTo>
                <a:cubicBezTo>
                  <a:pt x="1079472" y="935736"/>
                  <a:pt x="1580201" y="1657350"/>
                  <a:pt x="2359727" y="1900523"/>
                </a:cubicBezTo>
                <a:cubicBezTo>
                  <a:pt x="2643953" y="1989201"/>
                  <a:pt x="2802639" y="2291620"/>
                  <a:pt x="2713962" y="2575846"/>
                </a:cubicBezTo>
                <a:cubicBezTo>
                  <a:pt x="2625284" y="2860072"/>
                  <a:pt x="2322865" y="3018758"/>
                  <a:pt x="2038639" y="2930081"/>
                </a:cubicBezTo>
                <a:cubicBezTo>
                  <a:pt x="1298928" y="2699290"/>
                  <a:pt x="693328" y="2194274"/>
                  <a:pt x="333378" y="1507998"/>
                </a:cubicBezTo>
                <a:cubicBezTo>
                  <a:pt x="108398" y="1079087"/>
                  <a:pt x="-3807" y="611410"/>
                  <a:pt x="99" y="140399"/>
                </a:cubicBezTo>
                <a:lnTo>
                  <a:pt x="467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10"/>
            </p:custDataLst>
          </p:nvPr>
        </p:nvCxnSpPr>
        <p:spPr>
          <a:xfrm>
            <a:off x="10930251" y="688340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1"/>
            </p:custDataLst>
          </p:nvPr>
        </p:nvCxnSpPr>
        <p:spPr>
          <a:xfrm>
            <a:off x="10930251" y="75755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2"/>
            </p:custDataLst>
          </p:nvPr>
        </p:nvCxnSpPr>
        <p:spPr>
          <a:xfrm>
            <a:off x="10930251" y="826135"/>
            <a:ext cx="19177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13"/>
            </p:custDataLst>
          </p:nvPr>
        </p:nvSpPr>
        <p:spPr>
          <a:xfrm flipH="1">
            <a:off x="1401445" y="4279089"/>
            <a:ext cx="808355" cy="808355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7"/>
            </p:custDataLst>
          </p:nvPr>
        </p:nvSpPr>
        <p:spPr>
          <a:xfrm>
            <a:off x="2351686" y="2487519"/>
            <a:ext cx="8810024" cy="1222785"/>
          </a:xfrm>
        </p:spPr>
        <p:txBody>
          <a:bodyPr wrap="square" anchor="b" anchorCtr="0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7861296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0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284455" y="4085899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89460" cy="6858000"/>
          </a:xfrm>
          <a:custGeom>
            <a:avLst/>
            <a:gdLst>
              <a:gd name="connsiteX0" fmla="*/ 0 w 12189730"/>
              <a:gd name="connsiteY0" fmla="*/ 0 h 6858000"/>
              <a:gd name="connsiteX1" fmla="*/ 12189730 w 12189730"/>
              <a:gd name="connsiteY1" fmla="*/ 0 h 6858000"/>
              <a:gd name="connsiteX2" fmla="*/ 12189730 w 12189730"/>
              <a:gd name="connsiteY2" fmla="*/ 6858000 h 6858000"/>
              <a:gd name="connsiteX3" fmla="*/ 0 w 121897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9730" h="6858000">
                <a:moveTo>
                  <a:pt x="0" y="0"/>
                </a:moveTo>
                <a:lnTo>
                  <a:pt x="12189730" y="0"/>
                </a:lnTo>
                <a:lnTo>
                  <a:pt x="1218973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1302385" y="4168775"/>
            <a:ext cx="1503045" cy="369570"/>
          </a:xfrm>
          <a:prstGeom prst="roundRect">
            <a:avLst>
              <a:gd name="adj" fmla="val 19759"/>
            </a:avLst>
          </a:prstGeom>
          <a:gradFill>
            <a:gsLst>
              <a:gs pos="0">
                <a:schemeClr val="accent6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MiSans" panose="00000500000000000000" pitchFamily="2" charset="-122"/>
                <a:ea typeface="MiSans" panose="00000500000000000000" pitchFamily="2" charset="-122"/>
                <a:cs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1188085" y="3399155"/>
            <a:ext cx="5519420" cy="456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chemeClr val="lt1"/>
                </a:solidFill>
                <a:latin typeface="MiSans" panose="00000500000000000000" pitchFamily="2" charset="-122"/>
                <a:ea typeface="MiSans" panose="00000500000000000000" pitchFamily="2" charset="-122"/>
                <a:cs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1187450" y="1575435"/>
            <a:ext cx="5520055" cy="167640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0" normalizeH="0" baseline="0" noProof="1" dirty="0">
                <a:solidFill>
                  <a:schemeClr val="lt1"/>
                </a:solidFill>
                <a:latin typeface="MiSans Heavy" charset="0"/>
                <a:ea typeface="MiSans Heavy" charset="0"/>
                <a:cs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MiSans" panose="00000500000000000000" pitchFamily="2" charset="-122"/>
                <a:ea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MiSans" panose="00000500000000000000" pitchFamily="2" charset="-122"/>
                <a:ea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MiSans" panose="00000500000000000000" pitchFamily="2" charset="-122"/>
                <a:ea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4" Type="http://schemas.openxmlformats.org/officeDocument/2006/relationships/theme" Target="../theme/theme2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CCE9A-4860-4140-B73B-FA2C16A82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B6958-DE56-4D08-A10E-4431378077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>
            <p:custDataLst>
              <p:tags r:id="rId13"/>
            </p:custDataLst>
          </p:nvPr>
        </p:nvSpPr>
        <p:spPr>
          <a:xfrm>
            <a:off x="10287001" y="450850"/>
            <a:ext cx="1219200" cy="711200"/>
          </a:xfrm>
          <a:custGeom>
            <a:avLst/>
            <a:gdLst>
              <a:gd name="connsiteX0" fmla="*/ 0 w 1219200"/>
              <a:gd name="connsiteY0" fmla="*/ 0 h 711200"/>
              <a:gd name="connsiteX1" fmla="*/ 1219200 w 1219200"/>
              <a:gd name="connsiteY1" fmla="*/ 165100 h 711200"/>
              <a:gd name="connsiteX2" fmla="*/ 488950 w 1219200"/>
              <a:gd name="connsiteY2" fmla="*/ 711200 h 711200"/>
              <a:gd name="connsiteX3" fmla="*/ 0 w 1219200"/>
              <a:gd name="connsiteY3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" h="711200">
                <a:moveTo>
                  <a:pt x="0" y="0"/>
                </a:moveTo>
                <a:lnTo>
                  <a:pt x="1219200" y="165100"/>
                </a:lnTo>
                <a:lnTo>
                  <a:pt x="488950" y="711200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>
            <p:custDataLst>
              <p:tags r:id="rId14"/>
            </p:custDataLst>
          </p:nvPr>
        </p:nvSpPr>
        <p:spPr>
          <a:xfrm>
            <a:off x="10718801" y="0"/>
            <a:ext cx="1473199" cy="1361739"/>
          </a:xfrm>
          <a:custGeom>
            <a:avLst/>
            <a:gdLst>
              <a:gd name="connsiteX0" fmla="*/ 0 w 3276599"/>
              <a:gd name="connsiteY0" fmla="*/ 0 h 3028696"/>
              <a:gd name="connsiteX1" fmla="*/ 945683 w 3276599"/>
              <a:gd name="connsiteY1" fmla="*/ 0 h 3028696"/>
              <a:gd name="connsiteX2" fmla="*/ 948498 w 3276599"/>
              <a:gd name="connsiteY2" fmla="*/ 108002 h 3028696"/>
              <a:gd name="connsiteX3" fmla="*/ 3166700 w 3276599"/>
              <a:gd name="connsiteY3" fmla="*/ 2260336 h 3028696"/>
              <a:gd name="connsiteX4" fmla="*/ 3276599 w 3276599"/>
              <a:gd name="connsiteY4" fmla="*/ 2263032 h 3028696"/>
              <a:gd name="connsiteX5" fmla="*/ 3276599 w 3276599"/>
              <a:gd name="connsiteY5" fmla="*/ 3028696 h 3028696"/>
              <a:gd name="connsiteX6" fmla="*/ 3122111 w 3276599"/>
              <a:gd name="connsiteY6" fmla="*/ 3025087 h 3028696"/>
              <a:gd name="connsiteX7" fmla="*/ 3956 w 3276599"/>
              <a:gd name="connsiteY7" fmla="*/ 144544 h 302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6599" h="3028696">
                <a:moveTo>
                  <a:pt x="0" y="0"/>
                </a:moveTo>
                <a:lnTo>
                  <a:pt x="945683" y="0"/>
                </a:lnTo>
                <a:lnTo>
                  <a:pt x="948498" y="108002"/>
                </a:lnTo>
                <a:cubicBezTo>
                  <a:pt x="1009194" y="1269845"/>
                  <a:pt x="1969300" y="2201442"/>
                  <a:pt x="3166700" y="2260336"/>
                </a:cubicBezTo>
                <a:lnTo>
                  <a:pt x="3276599" y="2263032"/>
                </a:lnTo>
                <a:lnTo>
                  <a:pt x="3276599" y="3028696"/>
                </a:lnTo>
                <a:lnTo>
                  <a:pt x="3122111" y="3025087"/>
                </a:lnTo>
                <a:cubicBezTo>
                  <a:pt x="1438911" y="2946268"/>
                  <a:pt x="89278" y="1699479"/>
                  <a:pt x="3956" y="14454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5"/>
            </p:custDataLst>
          </p:nvPr>
        </p:nvSpPr>
        <p:spPr>
          <a:xfrm>
            <a:off x="11238485" y="423882"/>
            <a:ext cx="532212" cy="53221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椭圆 22"/>
          <p:cNvSpPr/>
          <p:nvPr>
            <p:custDataLst>
              <p:tags r:id="rId16"/>
            </p:custDataLst>
          </p:nvPr>
        </p:nvSpPr>
        <p:spPr>
          <a:xfrm>
            <a:off x="10321724" y="357339"/>
            <a:ext cx="222138" cy="222138"/>
          </a:xfrm>
          <a:prstGeom prst="ellipse">
            <a:avLst/>
          </a:prstGeom>
          <a:gradFill flip="none" rotWithShape="1">
            <a:gsLst>
              <a:gs pos="76000">
                <a:schemeClr val="accent1"/>
              </a:gs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27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7"/>
            </p:custDataLst>
          </p:nvPr>
        </p:nvSpPr>
        <p:spPr>
          <a:xfrm>
            <a:off x="10856597" y="1110794"/>
            <a:ext cx="130033" cy="130033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20000"/>
                  <a:lumOff val="8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KSO_TEMPLATE" hidden="1"/>
          <p:cNvSpPr/>
          <p:nvPr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90000">
                <a:schemeClr val="bg1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MiSans" panose="00000500000000000000" pitchFamily="2" charset="-122"/>
                <a:ea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MiSans" panose="00000500000000000000" pitchFamily="2" charset="-122"/>
                <a:ea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MiSans" panose="00000500000000000000" pitchFamily="2" charset="-122"/>
                <a:ea typeface="MiSans" panose="00000500000000000000" pitchFamily="2" charset="-122"/>
                <a:sym typeface="MiSans" panose="00000500000000000000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65760" y="365125"/>
            <a:ext cx="10988040" cy="77946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365760" y="1253330"/>
            <a:ext cx="10988040" cy="483426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Tx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R="0" lvl="1">
              <a:tabLst>
                <a:tab pos="1609725" algn="l"/>
              </a:tabLst>
            </a:pPr>
            <a:r>
              <a:rPr lang="zh-CN" altLang="en-US" dirty="0"/>
              <a:t>二级</a:t>
            </a:r>
            <a:endParaRPr lang="zh-CN" altLang="en-US" dirty="0"/>
          </a:p>
          <a:p>
            <a:pPr marR="0" lvl="2"/>
            <a:r>
              <a:rPr lang="zh-CN" altLang="en-US" dirty="0"/>
              <a:t>三级</a:t>
            </a:r>
            <a:endParaRPr lang="zh-CN" altLang="en-US" dirty="0"/>
          </a:p>
          <a:p>
            <a:pPr marR="0" lvl="3"/>
            <a:r>
              <a:rPr lang="zh-CN" altLang="en-US" dirty="0"/>
              <a:t>四级</a:t>
            </a:r>
            <a:endParaRPr lang="zh-CN" altLang="en-US" dirty="0"/>
          </a:p>
          <a:p>
            <a:pPr marR="0"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</p:spTree>
    <p:custDataLst>
      <p:tags r:id="rId9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600" b="0" i="0" u="none" strike="noStrike" kern="1200" cap="none" spc="300" normalizeH="0" baseline="0" dirty="0" smtClean="0">
          <a:ln>
            <a:noFill/>
            <a:prstDash val="sysDot"/>
          </a:ln>
          <a:solidFill>
            <a:schemeClr val="tx1"/>
          </a:solidFill>
          <a:uFillTx/>
          <a:latin typeface="MiSans Heavy" charset="0"/>
          <a:ea typeface="MiSans Heavy" charset="0"/>
          <a:cs typeface="MiSans" panose="00000500000000000000" pitchFamily="2" charset="-122"/>
          <a:sym typeface="MiSans Heavy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MiSans" panose="00000500000000000000" pitchFamily="2" charset="-122"/>
          <a:ea typeface="MiSans" panose="00000500000000000000" pitchFamily="2" charset="-122"/>
          <a:cs typeface="MiSans" panose="00000500000000000000" pitchFamily="2" charset="-122"/>
          <a:sym typeface="MiSans" panose="00000500000000000000" pitchFamily="2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dirty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MiSans" panose="00000500000000000000" pitchFamily="2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dirty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MiSans" panose="00000500000000000000" pitchFamily="2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dirty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MiSans" panose="00000500000000000000" pitchFamily="2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MiSans" panose="00000500000000000000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3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1" Type="http://schemas.openxmlformats.org/officeDocument/2006/relationships/slideLayout" Target="../slideLayouts/slideLayout18.xml"/><Relationship Id="rId20" Type="http://schemas.openxmlformats.org/officeDocument/2006/relationships/tags" Target="../tags/tag137.xml"/><Relationship Id="rId2" Type="http://schemas.openxmlformats.org/officeDocument/2006/relationships/image" Target="../media/image3.svg"/><Relationship Id="rId19" Type="http://schemas.openxmlformats.org/officeDocument/2006/relationships/tags" Target="../tags/tag136.xml"/><Relationship Id="rId18" Type="http://schemas.openxmlformats.org/officeDocument/2006/relationships/tags" Target="../tags/tag135.xml"/><Relationship Id="rId17" Type="http://schemas.openxmlformats.org/officeDocument/2006/relationships/tags" Target="../tags/tag134.xml"/><Relationship Id="rId16" Type="http://schemas.openxmlformats.org/officeDocument/2006/relationships/tags" Target="../tags/tag133.xml"/><Relationship Id="rId15" Type="http://schemas.openxmlformats.org/officeDocument/2006/relationships/image" Target="../media/image13.svg"/><Relationship Id="rId14" Type="http://schemas.openxmlformats.org/officeDocument/2006/relationships/image" Target="../media/image12.png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image" Target="../media/image11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9" Type="http://schemas.openxmlformats.org/officeDocument/2006/relationships/slideLayout" Target="../slideLayouts/slideLayout13.xml"/><Relationship Id="rId28" Type="http://schemas.openxmlformats.org/officeDocument/2006/relationships/tags" Target="../tags/tag150.xml"/><Relationship Id="rId27" Type="http://schemas.openxmlformats.org/officeDocument/2006/relationships/tags" Target="../tags/tag149.xml"/><Relationship Id="rId26" Type="http://schemas.openxmlformats.org/officeDocument/2006/relationships/image" Target="../media/image23.svg"/><Relationship Id="rId25" Type="http://schemas.openxmlformats.org/officeDocument/2006/relationships/image" Target="../media/image22.png"/><Relationship Id="rId24" Type="http://schemas.openxmlformats.org/officeDocument/2006/relationships/tags" Target="../tags/tag148.xml"/><Relationship Id="rId23" Type="http://schemas.openxmlformats.org/officeDocument/2006/relationships/image" Target="../media/image21.svg"/><Relationship Id="rId22" Type="http://schemas.openxmlformats.org/officeDocument/2006/relationships/image" Target="../media/image20.png"/><Relationship Id="rId21" Type="http://schemas.openxmlformats.org/officeDocument/2006/relationships/tags" Target="../tags/tag147.xml"/><Relationship Id="rId20" Type="http://schemas.openxmlformats.org/officeDocument/2006/relationships/image" Target="../media/image19.svg"/><Relationship Id="rId2" Type="http://schemas.openxmlformats.org/officeDocument/2006/relationships/diagramLayout" Target="../diagrams/layout1.xml"/><Relationship Id="rId19" Type="http://schemas.openxmlformats.org/officeDocument/2006/relationships/image" Target="../media/image18.png"/><Relationship Id="rId18" Type="http://schemas.openxmlformats.org/officeDocument/2006/relationships/tags" Target="../tags/tag146.xml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tags" Target="../tags/tag145.xml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2" Type="http://schemas.openxmlformats.org/officeDocument/2006/relationships/slideLayout" Target="../slideLayouts/slideLayout19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tags" Target="../tags/tag159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71.xml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tags" Target="../tags/tag170.xml"/><Relationship Id="rId1" Type="http://schemas.openxmlformats.org/officeDocument/2006/relationships/hyperlink" Target="https://ppl-ai-code-interpreter-files.s3.amazonaws.com/web/direct-files/7c6021bf3649ebfeb021bbda187a8d41/15fa5eeb-3eaf-4b5a-b3d1-69331630b05a/index.html" TargetMode="Externa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62000" y="4996498"/>
            <a:ext cx="1037082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等线" panose="02010600030101010101" pitchFamily="2" charset="-122"/>
                <a:ea typeface="+mn-ea"/>
                <a:cs typeface="+mn-ea"/>
              </a:defRPr>
            </a:lvl9pPr>
          </a:lstStyle>
          <a:p>
            <a:r>
              <a:rPr lang="zh-CN" altLang="en-US" sz="2800" b="1" i="1" dirty="0">
                <a:solidFill>
                  <a:schemeClr val="tx1"/>
                </a:solidFill>
                <a:latin typeface="MiSans" panose="00000500000000000000" pitchFamily="2" charset="-122"/>
                <a:ea typeface="MiSans" panose="00000500000000000000" pitchFamily="2" charset="-122"/>
                <a:cs typeface="MiSans" panose="00000500000000000000" pitchFamily="2" charset="-122"/>
                <a:sym typeface="MiSans" panose="00000500000000000000" pitchFamily="2" charset="-122"/>
              </a:rPr>
              <a:t>解决</a:t>
            </a:r>
            <a:r>
              <a:rPr lang="en-US" altLang="zh-CN" sz="2800" b="1" i="1" dirty="0">
                <a:solidFill>
                  <a:schemeClr val="tx1"/>
                </a:solidFill>
                <a:latin typeface="MiSans" panose="00000500000000000000" pitchFamily="2" charset="-122"/>
                <a:ea typeface="MiSans" panose="00000500000000000000" pitchFamily="2" charset="-122"/>
                <a:cs typeface="MiSans" panose="00000500000000000000" pitchFamily="2" charset="-122"/>
                <a:sym typeface="MiSans" panose="00000500000000000000" pitchFamily="2" charset="-122"/>
              </a:rPr>
              <a:t>DeFi</a:t>
            </a:r>
            <a:r>
              <a:rPr lang="zh-CN" altLang="en-US" sz="2800" b="1" i="1" dirty="0">
                <a:solidFill>
                  <a:schemeClr val="tx1"/>
                </a:solidFill>
                <a:latin typeface="MiSans" panose="00000500000000000000" pitchFamily="2" charset="-122"/>
                <a:ea typeface="MiSans" panose="00000500000000000000" pitchFamily="2" charset="-122"/>
                <a:cs typeface="MiSans" panose="00000500000000000000" pitchFamily="2" charset="-122"/>
                <a:sym typeface="MiSans" panose="00000500000000000000" pitchFamily="2" charset="-122"/>
              </a:rPr>
              <a:t>衍生品定价延迟与套利门槛高问题</a:t>
            </a:r>
            <a:endParaRPr lang="en-US" altLang="zh-CN" sz="2800" b="1" i="1" dirty="0">
              <a:solidFill>
                <a:schemeClr val="tx1"/>
              </a:solidFill>
              <a:latin typeface="MiSans" panose="00000500000000000000" pitchFamily="2" charset="-122"/>
              <a:ea typeface="MiSans" panose="00000500000000000000" pitchFamily="2" charset="-122"/>
              <a:cs typeface="MiSans" panose="00000500000000000000" pitchFamily="2" charset="-122"/>
              <a:sym typeface="MiSans" panose="00000500000000000000" pitchFamily="2" charset="-122"/>
            </a:endParaRPr>
          </a:p>
          <a:p>
            <a:endParaRPr lang="en-US" altLang="zh-CN" sz="2800" b="1" i="1" dirty="0">
              <a:solidFill>
                <a:schemeClr val="tx1"/>
              </a:solidFill>
              <a:latin typeface="MiSans" panose="00000500000000000000" pitchFamily="2" charset="-122"/>
              <a:ea typeface="MiSans" panose="00000500000000000000" pitchFamily="2" charset="-122"/>
              <a:cs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>
            <a:normAutofit fontScale="70000"/>
          </a:bodyPr>
          <a:lstStyle/>
          <a:p>
            <a:r>
              <a:rPr lang="en-US" altLang="en-US"/>
              <a:t>Fixing DeFi Derivatives: Latency, High Barriers &amp; Inaccurate Pricing</a:t>
            </a:r>
            <a:endParaRPr lang="en-US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altLang="en-US"/>
              <a:t>链上</a:t>
            </a:r>
            <a:r>
              <a:rPr altLang="zh-CN"/>
              <a:t>AI</a:t>
            </a:r>
            <a:r>
              <a:t>衍生品定价套利协议</a:t>
            </a: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078707" y="3429000"/>
            <a:ext cx="10034586" cy="2229392"/>
            <a:chOff x="1185863" y="1871121"/>
            <a:chExt cx="10034586" cy="222939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" name="矩形: 圆角 3"/>
            <p:cNvSpPr/>
            <p:nvPr/>
          </p:nvSpPr>
          <p:spPr>
            <a:xfrm>
              <a:off x="1185863" y="1878806"/>
              <a:ext cx="3086100" cy="2221707"/>
            </a:xfrm>
            <a:prstGeom prst="roundRect">
              <a:avLst/>
            </a:prstGeom>
            <a:grpFill/>
            <a:ln>
              <a:solidFill>
                <a:schemeClr val="accent2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4660106" y="1871121"/>
              <a:ext cx="3086100" cy="2221707"/>
            </a:xfrm>
            <a:prstGeom prst="roundRect">
              <a:avLst/>
            </a:prstGeom>
            <a:grpFill/>
            <a:ln>
              <a:solidFill>
                <a:schemeClr val="accent2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8134349" y="1878806"/>
              <a:ext cx="3086100" cy="2221707"/>
            </a:xfrm>
            <a:prstGeom prst="roundRect">
              <a:avLst/>
            </a:prstGeom>
            <a:grpFill/>
            <a:ln>
              <a:solidFill>
                <a:schemeClr val="accent2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707357" y="1857526"/>
            <a:ext cx="1766268" cy="914400"/>
            <a:chOff x="1312689" y="1273629"/>
            <a:chExt cx="1766268" cy="914400"/>
          </a:xfrm>
          <a:solidFill>
            <a:schemeClr val="accent1"/>
          </a:solidFill>
        </p:grpSpPr>
        <p:pic>
          <p:nvPicPr>
            <p:cNvPr id="9" name="图形 8" descr="时钟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12689" y="1273629"/>
              <a:ext cx="914400" cy="914400"/>
            </a:xfrm>
            <a:prstGeom prst="rect">
              <a:avLst/>
            </a:prstGeom>
          </p:spPr>
        </p:pic>
        <p:pic>
          <p:nvPicPr>
            <p:cNvPr id="11" name="图形 10" descr="运行 纯色填充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64557" y="1273629"/>
              <a:ext cx="914400" cy="914400"/>
            </a:xfrm>
            <a:prstGeom prst="rect">
              <a:avLst/>
            </a:prstGeom>
          </p:spPr>
        </p:pic>
      </p:grpSp>
      <p:pic>
        <p:nvPicPr>
          <p:cNvPr id="14" name="图形 13" descr="男程序员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1600" y="1857526"/>
            <a:ext cx="914400" cy="91440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8593311" y="1857526"/>
            <a:ext cx="1828800" cy="914400"/>
            <a:chOff x="8881462" y="1230766"/>
            <a:chExt cx="1828800" cy="914400"/>
          </a:xfrm>
          <a:solidFill>
            <a:schemeClr val="accent1"/>
          </a:solidFill>
        </p:grpSpPr>
        <p:pic>
          <p:nvPicPr>
            <p:cNvPr id="19" name="图形 18" descr="钥匙 轮廓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95862" y="1230766"/>
              <a:ext cx="914400" cy="914400"/>
            </a:xfrm>
            <a:prstGeom prst="rect">
              <a:avLst/>
            </a:prstGeom>
          </p:spPr>
        </p:pic>
        <p:pic>
          <p:nvPicPr>
            <p:cNvPr id="21" name="图形 20" descr="硬币 纯色填充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881462" y="1230766"/>
              <a:ext cx="914400" cy="914400"/>
            </a:xfrm>
            <a:prstGeom prst="rect">
              <a:avLst/>
            </a:prstGeom>
          </p:spPr>
        </p:pic>
      </p:grp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1512091" y="4260312"/>
            <a:ext cx="209426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lt1"/>
                </a:solidFill>
              </a:rPr>
              <a:t>ETH </a:t>
            </a:r>
            <a:r>
              <a:rPr lang="zh-CN" altLang="en-US" b="1" dirty="0">
                <a:solidFill>
                  <a:schemeClr val="lt1"/>
                </a:solidFill>
              </a:rPr>
              <a:t>暴涨时，链上报价跟不上理论价，套利窗口秒关</a:t>
            </a:r>
            <a:endParaRPr lang="zh-CN" altLang="en-US" b="1" dirty="0">
              <a:solidFill>
                <a:schemeClr val="lt1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12"/>
            </p:custDataLst>
          </p:nvPr>
        </p:nvSpPr>
        <p:spPr>
          <a:xfrm>
            <a:off x="8425433" y="4260312"/>
            <a:ext cx="2164556" cy="92202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b="1" dirty="0">
                <a:solidFill>
                  <a:schemeClr val="lt1"/>
                </a:solidFill>
              </a:rPr>
              <a:t>要代码能力 </a:t>
            </a:r>
            <a:r>
              <a:rPr lang="en-US" altLang="zh-CN" b="1" dirty="0">
                <a:solidFill>
                  <a:schemeClr val="lt1"/>
                </a:solidFill>
              </a:rPr>
              <a:t>/ </a:t>
            </a:r>
            <a:r>
              <a:rPr lang="zh-CN" altLang="en-US" b="1" dirty="0">
                <a:solidFill>
                  <a:schemeClr val="lt1"/>
                </a:solidFill>
              </a:rPr>
              <a:t>高资金，收益还难灵活兑现</a:t>
            </a:r>
            <a:endParaRPr lang="zh-CN" altLang="en-US" b="1" dirty="0">
              <a:solidFill>
                <a:schemeClr val="lt1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5010745" y="4260312"/>
            <a:ext cx="216455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lt1"/>
                </a:solidFill>
              </a:rPr>
              <a:t>默认波动率不变，市场一波动就失效，还得人工调参</a:t>
            </a:r>
            <a:endParaRPr lang="zh-CN" altLang="en-US" b="1" dirty="0">
              <a:solidFill>
                <a:schemeClr val="lt1"/>
              </a:solidFill>
            </a:endParaRPr>
          </a:p>
        </p:txBody>
      </p:sp>
      <p:pic>
        <p:nvPicPr>
          <p:cNvPr id="8" name="图形 7" descr="周期图 纯色填充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73055" y="1906601"/>
            <a:ext cx="914400" cy="914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6"/>
            </p:custDataLst>
          </p:nvPr>
        </p:nvSpPr>
        <p:spPr>
          <a:xfrm>
            <a:off x="1738610" y="3681454"/>
            <a:ext cx="1851559" cy="36830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b="1" dirty="0">
                <a:solidFill>
                  <a:schemeClr val="lt1"/>
                </a:solidFill>
              </a:rPr>
              <a:t>定价延迟问题</a:t>
            </a:r>
            <a:endParaRPr lang="zh-CN" altLang="en-US" b="1" dirty="0">
              <a:solidFill>
                <a:schemeClr val="lt1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5181600" y="3681454"/>
            <a:ext cx="1851559" cy="36830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b="1" dirty="0">
                <a:solidFill>
                  <a:schemeClr val="lt1"/>
                </a:solidFill>
              </a:rPr>
              <a:t>定价模型局限性</a:t>
            </a:r>
            <a:endParaRPr lang="zh-CN" altLang="en-US" b="1" dirty="0">
              <a:solidFill>
                <a:schemeClr val="lt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8593311" y="3681454"/>
            <a:ext cx="1851559" cy="36830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b="1" dirty="0">
                <a:solidFill>
                  <a:schemeClr val="lt1"/>
                </a:solidFill>
              </a:rPr>
              <a:t>套利参与门槛高</a:t>
            </a:r>
            <a:endParaRPr lang="zh-CN" altLang="en-US" b="1" dirty="0">
              <a:solidFill>
                <a:schemeClr val="lt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/>
        <p:txBody>
          <a:bodyPr vert="horz" wrap="square" lIns="0" tIns="0" rIns="0" bIns="0" rtlCol="0" anchor="b" anchorCtr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      </a:t>
            </a:r>
            <a:endParaRPr lang="zh-CN" altLang="en-US" dirty="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    </a:t>
            </a:r>
            <a:r>
              <a:rPr lang="zh-CN" altLang="en-US" dirty="0">
                <a:sym typeface="+mn-ea"/>
              </a:rPr>
              <a:t>当下核心痛点：</a:t>
            </a:r>
            <a:endParaRPr lang="zh-CN" altLang="en-US" dirty="0">
              <a:sym typeface="+mn-ea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>
            <a:graphicFrameLocks noGrp="1"/>
          </p:cNvGraphicFramePr>
          <p:nvPr/>
        </p:nvGraphicFramePr>
        <p:xfrm>
          <a:off x="697078" y="1771870"/>
          <a:ext cx="10797845" cy="2640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1" name="内容占位符 20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697077" y="4190020"/>
            <a:ext cx="10861545" cy="1819071"/>
            <a:chOff x="697077" y="2838298"/>
            <a:chExt cx="10861545" cy="1819071"/>
          </a:xfrm>
        </p:grpSpPr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697077" y="2904134"/>
              <a:ext cx="1799539" cy="147637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接入 </a:t>
              </a:r>
              <a:r>
                <a:rPr lang="en-US" altLang="zh-CN" dirty="0" err="1">
                  <a:solidFill>
                    <a:schemeClr val="tx1"/>
                  </a:solidFill>
                </a:rPr>
                <a:t>Chainlink</a:t>
              </a:r>
              <a:r>
                <a:rPr lang="en-US" altLang="zh-CN" dirty="0">
                  <a:solidFill>
                    <a:schemeClr val="tx1"/>
                  </a:solidFill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</a:rPr>
                <a:t>预言机 </a:t>
              </a:r>
              <a:r>
                <a:rPr lang="en-US" altLang="zh-CN" dirty="0">
                  <a:solidFill>
                    <a:schemeClr val="tx1"/>
                  </a:solidFill>
                </a:rPr>
                <a:t>ETH/USDC </a:t>
              </a:r>
              <a:r>
                <a:rPr lang="zh-CN" altLang="en-US" dirty="0">
                  <a:solidFill>
                    <a:schemeClr val="tx1"/>
                  </a:solidFill>
                </a:rPr>
                <a:t>实时价格、历史波动率等链上数据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8"/>
              </p:custDataLst>
            </p:nvPr>
          </p:nvSpPr>
          <p:spPr>
            <a:xfrm>
              <a:off x="9759083" y="2904134"/>
              <a:ext cx="1799539" cy="147637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套利收益计入基金净值，同步更新 </a:t>
              </a:r>
              <a:r>
                <a:rPr lang="en-US" altLang="zh-CN" dirty="0" err="1">
                  <a:solidFill>
                    <a:schemeClr val="tx1"/>
                  </a:solidFill>
                </a:rPr>
                <a:t>PnL</a:t>
              </a:r>
              <a:r>
                <a:rPr lang="en-US" altLang="zh-CN" dirty="0">
                  <a:solidFill>
                    <a:schemeClr val="tx1"/>
                  </a:solidFill>
                </a:rPr>
                <a:t> Token </a:t>
              </a:r>
              <a:r>
                <a:rPr lang="zh-CN" altLang="en-US" dirty="0">
                  <a:solidFill>
                    <a:schemeClr val="tx1"/>
                  </a:solidFill>
                </a:rPr>
                <a:t>价格，并向质押用户空投分红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9"/>
              </p:custDataLst>
            </p:nvPr>
          </p:nvSpPr>
          <p:spPr>
            <a:xfrm>
              <a:off x="7477656" y="2904134"/>
              <a:ext cx="1799539" cy="147637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触发预设合约逻辑，在偏差超限时自动完成买低卖高操作，推动市场价格收敛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0"/>
              </p:custDataLst>
            </p:nvPr>
          </p:nvSpPr>
          <p:spPr>
            <a:xfrm>
              <a:off x="5196229" y="2904134"/>
              <a:ext cx="1799539" cy="1753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智能合约自动比对 </a:t>
              </a:r>
              <a:r>
                <a:rPr lang="en-US" altLang="zh-CN" dirty="0">
                  <a:solidFill>
                    <a:schemeClr val="tx1"/>
                  </a:solidFill>
                </a:rPr>
                <a:t>AI </a:t>
              </a:r>
              <a:r>
                <a:rPr lang="zh-CN" altLang="en-US" dirty="0">
                  <a:solidFill>
                    <a:schemeClr val="tx1"/>
                  </a:solidFill>
                </a:rPr>
                <a:t>输出的理论价与 </a:t>
              </a:r>
              <a:r>
                <a:rPr lang="en-US" altLang="zh-CN" dirty="0" err="1">
                  <a:solidFill>
                    <a:schemeClr val="tx1"/>
                  </a:solidFill>
                </a:rPr>
                <a:t>Opyn</a:t>
              </a:r>
              <a:r>
                <a:rPr lang="en-US" altLang="zh-CN" dirty="0">
                  <a:solidFill>
                    <a:schemeClr val="tx1"/>
                  </a:solidFill>
                </a:rPr>
                <a:t>/Lyra </a:t>
              </a:r>
              <a:r>
                <a:rPr lang="zh-CN" altLang="en-US" dirty="0">
                  <a:solidFill>
                    <a:schemeClr val="tx1"/>
                  </a:solidFill>
                </a:rPr>
                <a:t>等平台链上实际报价，检测偏差阈值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11"/>
              </p:custDataLst>
            </p:nvPr>
          </p:nvSpPr>
          <p:spPr>
            <a:xfrm>
              <a:off x="2946653" y="2838298"/>
              <a:ext cx="1799539" cy="175323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通过 </a:t>
              </a:r>
              <a:r>
                <a:rPr lang="en-US" altLang="zh-CN" dirty="0" err="1">
                  <a:solidFill>
                    <a:schemeClr val="tx1"/>
                  </a:solidFill>
                </a:rPr>
                <a:t>GBM+Transformer+Kalman</a:t>
              </a:r>
              <a:r>
                <a:rPr lang="en-US" altLang="zh-CN" dirty="0">
                  <a:solidFill>
                    <a:schemeClr val="tx1"/>
                  </a:solidFill>
                </a:rPr>
                <a:t> Filter </a:t>
              </a:r>
              <a:r>
                <a:rPr lang="zh-CN" altLang="en-US" dirty="0">
                  <a:solidFill>
                    <a:schemeClr val="tx1"/>
                  </a:solidFill>
                </a:rPr>
                <a:t>组合模型，计算期权理论价格与波动预测值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图形 10" descr="碟形卫星天线 纯色填充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9646" y="1556468"/>
            <a:ext cx="914400" cy="914400"/>
          </a:xfrm>
          <a:prstGeom prst="rect">
            <a:avLst/>
          </a:prstGeom>
        </p:spPr>
      </p:pic>
      <p:pic>
        <p:nvPicPr>
          <p:cNvPr id="13" name="图形 12" descr="带齿轮的头部 纯色填充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89222" y="1556468"/>
            <a:ext cx="914400" cy="914400"/>
          </a:xfrm>
          <a:prstGeom prst="rect">
            <a:avLst/>
          </a:prstGeom>
        </p:spPr>
      </p:pic>
      <p:pic>
        <p:nvPicPr>
          <p:cNvPr id="15" name="图形 14" descr="研究 纯色填充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38798" y="1556468"/>
            <a:ext cx="914400" cy="914400"/>
          </a:xfrm>
          <a:prstGeom prst="rect">
            <a:avLst/>
          </a:prstGeom>
        </p:spPr>
      </p:pic>
      <p:pic>
        <p:nvPicPr>
          <p:cNvPr id="17" name="图形 16" descr="箭头: 直 纯色填充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0800000">
            <a:off x="7888374" y="1556468"/>
            <a:ext cx="914400" cy="914400"/>
          </a:xfrm>
          <a:prstGeom prst="rect">
            <a:avLst/>
          </a:prstGeom>
        </p:spPr>
      </p:pic>
      <p:pic>
        <p:nvPicPr>
          <p:cNvPr id="19" name="图形 18" descr="热气球 纯色填充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201652" y="1556468"/>
            <a:ext cx="914400" cy="914400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/>
        <p:txBody>
          <a:bodyPr vert="horz" wrap="square" lIns="0" tIns="0" rIns="0" bIns="0" rtlCol="0" anchor="b" anchorCtr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    </a:t>
            </a:r>
            <a:r>
              <a:rPr lang="zh-CN" altLang="en-US" dirty="0">
                <a:sym typeface="+mn-ea"/>
              </a:rPr>
              <a:t>核心逻辑</a:t>
            </a:r>
            <a:endParaRPr lang="zh-CN" altLang="en-US" dirty="0">
              <a:sym typeface="+mn-ea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>
            <a:graphicFrameLocks noGrp="1"/>
          </p:cNvGraphicFramePr>
          <p:nvPr/>
        </p:nvGraphicFramePr>
        <p:xfrm>
          <a:off x="838200" y="933511"/>
          <a:ext cx="10515600" cy="4990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991082" y="1199622"/>
            <a:ext cx="2503861" cy="25844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整合 </a:t>
            </a:r>
            <a:r>
              <a:rPr lang="en-US" altLang="zh-CN" dirty="0">
                <a:solidFill>
                  <a:schemeClr val="tx1"/>
                </a:solidFill>
              </a:rPr>
              <a:t>GBM</a:t>
            </a:r>
            <a:r>
              <a:rPr lang="zh-CN" altLang="en-US" dirty="0">
                <a:solidFill>
                  <a:schemeClr val="tx1"/>
                </a:solidFill>
              </a:rPr>
              <a:t>（几何布朗运动建模）、</a:t>
            </a:r>
            <a:r>
              <a:rPr lang="en-US" altLang="zh-CN" dirty="0">
                <a:solidFill>
                  <a:schemeClr val="tx1"/>
                </a:solidFill>
              </a:rPr>
              <a:t>Transformer</a:t>
            </a:r>
            <a:r>
              <a:rPr lang="zh-CN" altLang="en-US" dirty="0">
                <a:solidFill>
                  <a:schemeClr val="tx1"/>
                </a:solidFill>
              </a:rPr>
              <a:t>（长期依赖学习）、</a:t>
            </a:r>
            <a:r>
              <a:rPr lang="en-US" altLang="zh-CN" dirty="0">
                <a:solidFill>
                  <a:schemeClr val="tx1"/>
                </a:solidFill>
              </a:rPr>
              <a:t>Kalman Filter</a:t>
            </a:r>
            <a:r>
              <a:rPr lang="zh-CN" altLang="en-US" dirty="0">
                <a:solidFill>
                  <a:schemeClr val="tx1"/>
                </a:solidFill>
              </a:rPr>
              <a:t>（噪声抑制），分析链上价格数据，输出资产实时波动率与期权理论价格，为套利决策提供数据支撑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849939" y="3784945"/>
            <a:ext cx="2503861" cy="147637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可视化展示实时价格预测曲线、套利记录、用户收益变化，降低使用门槛，方便用户掌握系统运行状态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951326" y="4030460"/>
            <a:ext cx="250386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将套利收益封装为 </a:t>
            </a:r>
            <a:r>
              <a:rPr lang="en-US" altLang="zh-CN" dirty="0">
                <a:solidFill>
                  <a:schemeClr val="tx1"/>
                </a:solidFill>
              </a:rPr>
              <a:t>AIFT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err="1">
                <a:solidFill>
                  <a:schemeClr val="tx1"/>
                </a:solidFill>
              </a:rPr>
              <a:t>PnL</a:t>
            </a:r>
            <a:r>
              <a:rPr lang="en-US" altLang="zh-CN" dirty="0">
                <a:solidFill>
                  <a:schemeClr val="tx1"/>
                </a:solidFill>
              </a:rPr>
              <a:t> Token</a:t>
            </a:r>
            <a:r>
              <a:rPr lang="zh-CN" altLang="en-US" dirty="0">
                <a:solidFill>
                  <a:schemeClr val="tx1"/>
                </a:solidFill>
              </a:rPr>
              <a:t>；通过质押池发放用户分红，国库储备覆盖 </a:t>
            </a:r>
            <a:r>
              <a:rPr lang="en-US" altLang="zh-CN" dirty="0">
                <a:solidFill>
                  <a:schemeClr val="tx1"/>
                </a:solidFill>
              </a:rPr>
              <a:t>Gas </a:t>
            </a:r>
            <a:r>
              <a:rPr lang="zh-CN" altLang="en-US" dirty="0">
                <a:solidFill>
                  <a:schemeClr val="tx1"/>
                </a:solidFill>
              </a:rPr>
              <a:t>与维护成本，绑定代币价值与系统收益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8849939" y="1482064"/>
            <a:ext cx="2503861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对接</a:t>
            </a:r>
            <a:r>
              <a:rPr lang="en-US" altLang="zh-CN" dirty="0" err="1">
                <a:solidFill>
                  <a:schemeClr val="tx1"/>
                </a:solidFill>
              </a:rPr>
              <a:t>Chainlink</a:t>
            </a:r>
            <a:r>
              <a:rPr lang="zh-CN" altLang="en-US" dirty="0">
                <a:solidFill>
                  <a:schemeClr val="tx1"/>
                </a:solidFill>
              </a:rPr>
              <a:t>（预言机）获取市场数据，比对 </a:t>
            </a:r>
            <a:r>
              <a:rPr lang="en-US" altLang="zh-CN" dirty="0">
                <a:solidFill>
                  <a:schemeClr val="tx1"/>
                </a:solidFill>
              </a:rPr>
              <a:t>AI </a:t>
            </a:r>
            <a:r>
              <a:rPr lang="zh-CN" altLang="en-US" dirty="0">
                <a:solidFill>
                  <a:schemeClr val="tx1"/>
                </a:solidFill>
              </a:rPr>
              <a:t>理论价与链上实际价检测偏差；偏差达标时自动执行套利操作，保障交易透明安全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wrap="square" lIns="0" tIns="0" rIns="0" bIns="0" rtlCol="0" anchor="b" anchorCtr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    </a:t>
            </a:r>
            <a:r>
              <a:rPr lang="zh-CN" altLang="en-US" dirty="0">
                <a:sym typeface="+mn-ea"/>
              </a:rPr>
              <a:t>系统架构</a:t>
            </a:r>
            <a:endParaRPr lang="zh-CN" altLang="en-US" dirty="0"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12250" y="719664"/>
          <a:ext cx="11179535" cy="577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907"/>
                <a:gridCol w="2235907"/>
                <a:gridCol w="2235907"/>
                <a:gridCol w="2235907"/>
                <a:gridCol w="2235907"/>
              </a:tblGrid>
              <a:tr h="722069">
                <a:tc>
                  <a:txBody>
                    <a:bodyPr/>
                    <a:lstStyle/>
                    <a:p>
                      <a:r>
                        <a:rPr lang="zh-CN" altLang="en-US" dirty="0"/>
                        <a:t>对比维度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本项目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传统</a:t>
                      </a:r>
                      <a:r>
                        <a:rPr lang="en-US" altLang="zh-CN" dirty="0"/>
                        <a:t>DeFi</a:t>
                      </a:r>
                      <a:r>
                        <a:rPr lang="zh-CN" altLang="en-US" dirty="0"/>
                        <a:t>期权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中心化套利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传统量化基金</a:t>
                      </a:r>
                      <a:endParaRPr lang="zh-CN" altLang="en-US" dirty="0"/>
                    </a:p>
                  </a:txBody>
                  <a:tcPr/>
                </a:tc>
              </a:tr>
              <a:tr h="722069">
                <a:tc>
                  <a:txBody>
                    <a:bodyPr/>
                    <a:lstStyle/>
                    <a:p>
                      <a:r>
                        <a:rPr lang="zh-CN" altLang="en-US" dirty="0"/>
                        <a:t>定价模型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GBM+Transformer+Kalman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多模型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Black-Scholes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单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一模型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无衍生品定价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多因子</a:t>
                      </a:r>
                      <a:r>
                        <a:rPr lang="en-US" altLang="zh-CN" dirty="0"/>
                        <a:t>+ML</a:t>
                      </a:r>
                      <a:endParaRPr lang="zh-CN" altLang="en-US" dirty="0"/>
                    </a:p>
                  </a:txBody>
                  <a:tcPr/>
                </a:tc>
              </a:tr>
              <a:tr h="722069">
                <a:tc>
                  <a:txBody>
                    <a:bodyPr/>
                    <a:lstStyle/>
                    <a:p>
                      <a:r>
                        <a:rPr lang="en-US" altLang="zh-CN" dirty="0"/>
                        <a:t>AI</a:t>
                      </a:r>
                      <a:r>
                        <a:rPr lang="zh-CN" altLang="en-US" dirty="0"/>
                        <a:t>应用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驱动实时预测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无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，固定算法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部分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信号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广泛应用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22069">
                <a:tc>
                  <a:txBody>
                    <a:bodyPr/>
                    <a:lstStyle/>
                    <a:p>
                      <a:r>
                        <a:rPr lang="zh-CN" altLang="en-US" dirty="0"/>
                        <a:t>自动化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全流程链上自动化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半自动（需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LP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管理）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高度自动（仅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CEX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高度自动</a:t>
                      </a:r>
                      <a:endParaRPr lang="zh-CN" altLang="en-US" dirty="0"/>
                    </a:p>
                  </a:txBody>
                  <a:tcPr/>
                </a:tc>
              </a:tr>
              <a:tr h="722069">
                <a:tc>
                  <a:txBody>
                    <a:bodyPr/>
                    <a:lstStyle/>
                    <a:p>
                      <a:r>
                        <a:rPr lang="zh-CN" altLang="en-US" dirty="0"/>
                        <a:t>波动率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动态预测，自适应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假设恒定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手动调整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不适用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复杂建模</a:t>
                      </a:r>
                      <a:endParaRPr lang="zh-CN" altLang="en-US" dirty="0"/>
                    </a:p>
                  </a:txBody>
                  <a:tcPr/>
                </a:tc>
              </a:tr>
              <a:tr h="722069">
                <a:tc>
                  <a:txBody>
                    <a:bodyPr/>
                    <a:lstStyle/>
                    <a:p>
                      <a:r>
                        <a:rPr lang="zh-CN" altLang="en-US" dirty="0"/>
                        <a:t>套利执行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智能合约自动检测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需用户手动执行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自动监控</a:t>
                      </a:r>
                      <a:r>
                        <a:rPr lang="en-US" altLang="zh-CN" dirty="0"/>
                        <a:t>CEX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跨市场套利</a:t>
                      </a:r>
                      <a:endParaRPr lang="zh-CN" altLang="en-US" dirty="0"/>
                    </a:p>
                  </a:txBody>
                  <a:tcPr/>
                </a:tc>
              </a:tr>
              <a:tr h="722069">
                <a:tc>
                  <a:txBody>
                    <a:bodyPr/>
                    <a:lstStyle/>
                    <a:p>
                      <a:r>
                        <a:rPr lang="zh-CN" altLang="en-US" dirty="0"/>
                        <a:t>收益分配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代币化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PnL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质押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LP</a:t>
                      </a:r>
                      <a:r>
                        <a:rPr lang="zh-CN" altLang="en-US" dirty="0"/>
                        <a:t>费用分成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直接到账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净值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提成</a:t>
                      </a:r>
                      <a:endParaRPr lang="zh-CN" altLang="en-US" dirty="0"/>
                    </a:p>
                  </a:txBody>
                  <a:tcPr/>
                </a:tc>
              </a:tr>
              <a:tr h="722069">
                <a:tc>
                  <a:txBody>
                    <a:bodyPr/>
                    <a:lstStyle/>
                    <a:p>
                      <a:r>
                        <a:rPr lang="zh-CN" altLang="en-US" dirty="0"/>
                        <a:t>透明度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全链上可追溯</a:t>
                      </a:r>
                      <a:endParaRPr lang="zh-CN" altLang="en-US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中心化定价逻辑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策略不透明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黑箱策略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834618" y="422962"/>
            <a:ext cx="1768358" cy="52197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传统方案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895646" y="342899"/>
            <a:ext cx="2193712" cy="52197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我们的方案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386513" y="1025695"/>
            <a:ext cx="5429250" cy="119888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全链上 </a:t>
            </a:r>
            <a:r>
              <a:rPr lang="en-US" altLang="zh-CN" b="1" dirty="0">
                <a:solidFill>
                  <a:schemeClr val="tx1"/>
                </a:solidFill>
              </a:rPr>
              <a:t>AI </a:t>
            </a:r>
            <a:r>
              <a:rPr lang="zh-CN" altLang="en-US" b="1" dirty="0">
                <a:solidFill>
                  <a:schemeClr val="tx1"/>
                </a:solidFill>
              </a:rPr>
              <a:t>定价闭环</a:t>
            </a:r>
            <a:r>
              <a:rPr lang="zh-CN" altLang="en-US" dirty="0">
                <a:solidFill>
                  <a:schemeClr val="tx1"/>
                </a:solidFill>
              </a:rPr>
              <a:t>：本项目实现 “数据输入→</a:t>
            </a:r>
            <a:r>
              <a:rPr lang="en-US" altLang="zh-CN" dirty="0">
                <a:solidFill>
                  <a:schemeClr val="tx1"/>
                </a:solidFill>
              </a:rPr>
              <a:t>AI </a:t>
            </a:r>
            <a:r>
              <a:rPr lang="zh-CN" altLang="en-US" dirty="0">
                <a:solidFill>
                  <a:schemeClr val="tx1"/>
                </a:solidFill>
              </a:rPr>
              <a:t>预测→价格对比→自动套利→收益分发” 全流程链上自动化，无人工干预，解决传统定价延迟、执行效率低的问题。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386513" y="2385600"/>
            <a:ext cx="54292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代币化 </a:t>
            </a:r>
            <a:r>
              <a:rPr lang="en-US" altLang="zh-CN" b="1" dirty="0" err="1">
                <a:solidFill>
                  <a:schemeClr val="tx1"/>
                </a:solidFill>
              </a:rPr>
              <a:t>PnL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收益机制</a:t>
            </a:r>
            <a:r>
              <a:rPr lang="zh-CN" altLang="en-US" dirty="0">
                <a:solidFill>
                  <a:schemeClr val="tx1"/>
                </a:solidFill>
              </a:rPr>
              <a:t>：本项目将套利收益封装为 </a:t>
            </a:r>
            <a:r>
              <a:rPr lang="en-US" altLang="zh-CN" dirty="0">
                <a:solidFill>
                  <a:schemeClr val="tx1"/>
                </a:solidFill>
              </a:rPr>
              <a:t>AIFT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err="1">
                <a:solidFill>
                  <a:schemeClr val="tx1"/>
                </a:solidFill>
              </a:rPr>
              <a:t>PnL</a:t>
            </a:r>
            <a:r>
              <a:rPr lang="en-US" altLang="zh-CN" dirty="0">
                <a:solidFill>
                  <a:schemeClr val="tx1"/>
                </a:solidFill>
              </a:rPr>
              <a:t> Token</a:t>
            </a:r>
            <a:r>
              <a:rPr lang="zh-CN" altLang="en-US" dirty="0">
                <a:solidFill>
                  <a:schemeClr val="tx1"/>
                </a:solidFill>
              </a:rPr>
              <a:t>，用户可通过持有、质押代币直接分享收益，打造 “链上 </a:t>
            </a:r>
            <a:r>
              <a:rPr lang="en-US" altLang="zh-CN" dirty="0">
                <a:solidFill>
                  <a:schemeClr val="tx1"/>
                </a:solidFill>
              </a:rPr>
              <a:t>AI </a:t>
            </a:r>
            <a:r>
              <a:rPr lang="zh-CN" altLang="en-US" dirty="0">
                <a:solidFill>
                  <a:schemeClr val="tx1"/>
                </a:solidFill>
              </a:rPr>
              <a:t>对冲基金” 原型，降低参与门槛。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386513" y="3716739"/>
            <a:ext cx="5429250" cy="92202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多模型融合的精准预测</a:t>
            </a:r>
            <a:r>
              <a:rPr lang="zh-CN" altLang="en-US" dirty="0">
                <a:solidFill>
                  <a:schemeClr val="tx1"/>
                </a:solidFill>
              </a:rPr>
              <a:t>：本项目结合 </a:t>
            </a:r>
            <a:r>
              <a:rPr lang="en-US" altLang="zh-CN" dirty="0">
                <a:solidFill>
                  <a:schemeClr val="tx1"/>
                </a:solidFill>
              </a:rPr>
              <a:t>GBM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Transformer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Kalman Filter</a:t>
            </a:r>
            <a:r>
              <a:rPr lang="zh-CN" altLang="en-US" dirty="0">
                <a:solidFill>
                  <a:schemeClr val="tx1"/>
                </a:solidFill>
              </a:rPr>
              <a:t>，提升价格与波动率预测精度，增强抗噪能力，适配动态市场环境。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386513" y="4975353"/>
            <a:ext cx="5429250" cy="119888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透明化的链上执行逻辑</a:t>
            </a:r>
            <a:r>
              <a:rPr lang="zh-CN" altLang="en-US" dirty="0">
                <a:solidFill>
                  <a:schemeClr val="tx1"/>
                </a:solidFill>
              </a:rPr>
              <a:t>：本项目通过智能合约部署套利逻辑，对接 </a:t>
            </a:r>
            <a:r>
              <a:rPr lang="en-US" altLang="zh-CN" dirty="0" err="1">
                <a:solidFill>
                  <a:schemeClr val="tx1"/>
                </a:solidFill>
              </a:rPr>
              <a:t>Chainlink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预言机保障数据真实，全程链上可追溯，消除信任隐患，解决传统方案透明度不足的问题。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729479" y="4073801"/>
            <a:ext cx="4066193" cy="64516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传统衍生品定价模型多基于 “波动率不变” 等简化假设，市场波动时易失效；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782230" y="2553559"/>
            <a:ext cx="2876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传统套利策略参与门槛高（需代码能力、高额资金）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729479" y="1193274"/>
            <a:ext cx="3644772" cy="92202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传统方案多依赖人工调整定价模型或半自动化执行，定价延迟，执行效率低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729479" y="5588398"/>
            <a:ext cx="4360391" cy="36830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传统中心化套利存在信任风险与操作黑箱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双击手势 纯色填充">
            <a:hlinkClick r:id="rId1" tooltip="" action="ppaction://hlinkfile"/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34831" y="877110"/>
            <a:ext cx="6158950" cy="132556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等线 Light" panose="02010600030101010101" charset="-122"/>
                <a:ea typeface="+mn-ea"/>
                <a:cs typeface="+mn-ea"/>
              </a:defRPr>
            </a:lvl1pPr>
          </a:lstStyle>
          <a:p>
            <a:r>
              <a:rPr lang="zh-CN" altLang="en-US" sz="3200" b="1" i="1" dirty="0">
                <a:solidFill>
                  <a:schemeClr val="tx1"/>
                </a:solidFill>
                <a:latin typeface="+mn-lt"/>
                <a:ea typeface="+mn-ea"/>
              </a:rPr>
              <a:t>三层收益分配：可持续生态设计</a:t>
            </a:r>
            <a:endParaRPr lang="zh-CN" altLang="en-US" sz="3200" b="1" i="1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38201" y="1862593"/>
          <a:ext cx="10515600" cy="3564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856"/>
                <a:gridCol w="4755542"/>
                <a:gridCol w="3505199"/>
              </a:tblGrid>
              <a:tr h="631627">
                <a:tc>
                  <a:txBody>
                    <a:bodyPr/>
                    <a:lstStyle/>
                    <a:p>
                      <a:r>
                        <a:rPr lang="zh-CN" altLang="en-US" dirty="0"/>
                        <a:t>代币名称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模块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收益来源</a:t>
                      </a:r>
                      <a:endParaRPr lang="zh-CN" altLang="en-US" dirty="0"/>
                    </a:p>
                  </a:txBody>
                  <a:tcPr/>
                </a:tc>
              </a:tr>
              <a:tr h="977702">
                <a:tc>
                  <a:txBody>
                    <a:bodyPr/>
                    <a:lstStyle/>
                    <a:p>
                      <a:r>
                        <a:rPr lang="en-US" altLang="zh-CN" dirty="0"/>
                        <a:t>AIFT</a:t>
                      </a:r>
                      <a:r>
                        <a:rPr lang="zh-CN" altLang="en-US" dirty="0"/>
                        <a:t>代币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代表系统套利策略净值，价格随策略收益实时浮动，支持交易与持有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链上衍生品套利操作产生的 </a:t>
                      </a:r>
                      <a:r>
                        <a:rPr lang="en-US" altLang="zh-CN" sz="1800" kern="1200" dirty="0" err="1">
                          <a:solidFill>
                            <a:schemeClr val="tx1"/>
                          </a:solidFill>
                          <a:cs typeface="+mn-ea"/>
                        </a:rPr>
                        <a:t>PnL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（盈亏）收益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cs typeface="+mn-ea"/>
                      </a:endParaRPr>
                    </a:p>
                  </a:txBody>
                  <a:tcPr/>
                </a:tc>
              </a:tr>
              <a:tr h="977702">
                <a:tc>
                  <a:txBody>
                    <a:bodyPr/>
                    <a:lstStyle/>
                    <a:p>
                      <a:r>
                        <a:rPr lang="zh-CN" altLang="en-US" dirty="0"/>
                        <a:t>质押池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供用户质押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AIFT 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代币，定期获取收益分红空投，提升代币持有积极性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套利策略收益的固定比例分配（从策略总收益中划扣）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cs typeface="+mn-ea"/>
                      </a:endParaRPr>
                    </a:p>
                  </a:txBody>
                  <a:tcPr/>
                </a:tc>
              </a:tr>
              <a:tr h="977702">
                <a:tc>
                  <a:txBody>
                    <a:bodyPr/>
                    <a:lstStyle/>
                    <a:p>
                      <a:r>
                        <a:rPr lang="zh-CN" altLang="en-US" dirty="0"/>
                        <a:t>国库储备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预留套利总收益的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10%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，专项用于覆盖链上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Gas 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费用、系统维护与迭代成本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cs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套利策略收益中预留的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10% 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cs typeface="+mn-ea"/>
                        </a:rPr>
                        <a:t>资金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cs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587103" y="6013111"/>
            <a:ext cx="9017791" cy="368300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通过 “代币锚定收益 </a:t>
            </a:r>
            <a:r>
              <a:rPr lang="en-US" altLang="zh-CN" dirty="0">
                <a:solidFill>
                  <a:schemeClr val="tx1"/>
                </a:solidFill>
              </a:rPr>
              <a:t>+ </a:t>
            </a:r>
            <a:r>
              <a:rPr lang="zh-CN" altLang="en-US" dirty="0">
                <a:solidFill>
                  <a:schemeClr val="tx1"/>
                </a:solidFill>
              </a:rPr>
              <a:t>质押分红 </a:t>
            </a:r>
            <a:r>
              <a:rPr lang="en-US" altLang="zh-CN" dirty="0">
                <a:solidFill>
                  <a:schemeClr val="tx1"/>
                </a:solidFill>
              </a:rPr>
              <a:t>+ </a:t>
            </a:r>
            <a:r>
              <a:rPr lang="zh-CN" altLang="en-US" dirty="0">
                <a:solidFill>
                  <a:schemeClr val="tx1"/>
                </a:solidFill>
              </a:rPr>
              <a:t>国库保障”，实现用户收益与生态可持续的双向平衡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 anchorCtr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    </a:t>
            </a:r>
            <a:r>
              <a:rPr lang="zh-CN" altLang="en-US" dirty="0">
                <a:sym typeface="+mn-ea"/>
              </a:rPr>
              <a:t>代币体系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>
            <a:graphicFrameLocks noGrp="1"/>
          </p:cNvGraphicFramePr>
          <p:nvPr/>
        </p:nvGraphicFramePr>
        <p:xfrm>
          <a:off x="782541" y="131694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67500" y="3903345"/>
            <a:ext cx="5728500" cy="295338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i="1" dirty="0">
                <a:solidFill>
                  <a:schemeClr val="tx1"/>
                </a:solidFill>
              </a:rPr>
              <a:t>聚焦领域：</a:t>
            </a:r>
            <a:endParaRPr lang="en-US" altLang="zh-CN" sz="2400" i="1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ETH </a:t>
            </a:r>
            <a:r>
              <a:rPr lang="zh-CN" altLang="en-US" sz="2400" dirty="0">
                <a:solidFill>
                  <a:schemeClr val="tx1"/>
                </a:solidFill>
              </a:rPr>
              <a:t>期权市场，深化当前定价与套利功能落地，完成核心</a:t>
            </a:r>
            <a:r>
              <a:rPr lang="en-US" altLang="zh-CN" sz="2400" dirty="0">
                <a:solidFill>
                  <a:schemeClr val="tx1"/>
                </a:solidFill>
              </a:rPr>
              <a:t>AI</a:t>
            </a:r>
            <a:r>
              <a:rPr lang="zh-CN" altLang="en-US" sz="2400" dirty="0">
                <a:solidFill>
                  <a:schemeClr val="tx1"/>
                </a:solidFill>
              </a:rPr>
              <a:t>模型训练优化</a:t>
            </a: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i="1" dirty="0">
                <a:solidFill>
                  <a:schemeClr val="tx1"/>
                </a:solidFill>
              </a:rPr>
              <a:t>生态接入：</a:t>
            </a:r>
            <a:endParaRPr lang="en-US" altLang="zh-CN" sz="2400" i="1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完成 </a:t>
            </a:r>
            <a:r>
              <a:rPr lang="en-US" altLang="zh-CN" sz="2400" dirty="0" err="1">
                <a:solidFill>
                  <a:schemeClr val="tx1"/>
                </a:solidFill>
              </a:rPr>
              <a:t>Aevo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</a:rPr>
              <a:t>Arbitrum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生态对接，拓展链上应用场景，扩大支持的衍生品类型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470497" y="302585"/>
            <a:ext cx="5303520" cy="295338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i="1" dirty="0">
                <a:solidFill>
                  <a:schemeClr val="tx1"/>
                </a:solidFill>
              </a:rPr>
              <a:t>技术升级：</a:t>
            </a:r>
            <a:endParaRPr lang="en-US" altLang="zh-CN" sz="2400" i="1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引入强化学习模型，实现动态风险管理，提升策略抗风险能力</a:t>
            </a: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i="1" dirty="0">
                <a:solidFill>
                  <a:schemeClr val="tx1"/>
                </a:solidFill>
              </a:rPr>
              <a:t>社区建设：</a:t>
            </a:r>
            <a:endParaRPr lang="en-US" altLang="zh-CN" sz="2400" i="1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开放社区治理机制，支持用户投票优化套利策略，增强系统迭代灵活性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0"/>
            <a:ext cx="2759102" cy="95313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en-US" altLang="zh-CN" sz="2800" b="1" i="1" dirty="0">
              <a:solidFill>
                <a:schemeClr val="tx1"/>
              </a:solidFill>
            </a:endParaRPr>
          </a:p>
          <a:p>
            <a:r>
              <a:rPr lang="en-US" altLang="zh-CN" sz="2800" b="1" i="1" dirty="0">
                <a:solidFill>
                  <a:schemeClr val="tx1"/>
                </a:solidFill>
              </a:rPr>
              <a:t>    </a:t>
            </a:r>
            <a:r>
              <a:rPr lang="zh-CN" altLang="en-US" sz="2800" b="1" i="1" dirty="0">
                <a:solidFill>
                  <a:schemeClr val="tx1"/>
                </a:solidFill>
              </a:rPr>
              <a:t>未来规划</a:t>
            </a:r>
            <a:endParaRPr lang="zh-CN" altLang="en-US" sz="2800" b="1" i="1" dirty="0">
              <a:solidFill>
                <a:schemeClr val="tx1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82248" y="2303510"/>
            <a:ext cx="2456083" cy="1676367"/>
            <a:chOff x="6139274" y="854587"/>
            <a:chExt cx="2456083" cy="1676367"/>
          </a:xfrm>
        </p:grpSpPr>
        <p:sp>
          <p:nvSpPr>
            <p:cNvPr id="4" name="矩形: 圆角 3"/>
            <p:cNvSpPr/>
            <p:nvPr/>
          </p:nvSpPr>
          <p:spPr>
            <a:xfrm>
              <a:off x="6139274" y="854587"/>
              <a:ext cx="2456083" cy="1676367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2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1"/>
              </p:custDataLst>
            </p:nvPr>
          </p:nvSpPr>
          <p:spPr>
            <a:xfrm>
              <a:off x="6252892" y="954107"/>
              <a:ext cx="2228849" cy="1476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lt1"/>
                  </a:solidFill>
                </a:rPr>
                <a:t>直击 </a:t>
              </a:r>
              <a:r>
                <a:rPr lang="en-US" altLang="zh-CN" dirty="0">
                  <a:solidFill>
                    <a:schemeClr val="lt1"/>
                  </a:solidFill>
                </a:rPr>
                <a:t>DeFi </a:t>
              </a:r>
              <a:r>
                <a:rPr lang="zh-CN" altLang="en-US" dirty="0">
                  <a:solidFill>
                    <a:schemeClr val="lt1"/>
                  </a:solidFill>
                </a:rPr>
                <a:t>衍生品市场定价延迟、套利执行难、用户参与门槛高的关键问题，填补传统方案空白</a:t>
              </a:r>
              <a:endParaRPr lang="zh-CN" alt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867958" y="2356801"/>
            <a:ext cx="2456083" cy="1676367"/>
            <a:chOff x="414337" y="4943474"/>
            <a:chExt cx="2456083" cy="1676367"/>
          </a:xfrm>
        </p:grpSpPr>
        <p:sp>
          <p:nvSpPr>
            <p:cNvPr id="6" name="矩形: 圆角 5"/>
            <p:cNvSpPr/>
            <p:nvPr/>
          </p:nvSpPr>
          <p:spPr>
            <a:xfrm>
              <a:off x="414337" y="4943474"/>
              <a:ext cx="2456083" cy="1676367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2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>
              <a:off x="414337" y="5042993"/>
              <a:ext cx="2456083" cy="1476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lt1"/>
                  </a:solidFill>
                </a:rPr>
                <a:t>以 </a:t>
              </a:r>
              <a:r>
                <a:rPr lang="en-US" altLang="zh-CN" dirty="0">
                  <a:solidFill>
                    <a:schemeClr val="lt1"/>
                  </a:solidFill>
                </a:rPr>
                <a:t>AI </a:t>
              </a:r>
              <a:r>
                <a:rPr lang="zh-CN" altLang="en-US" dirty="0">
                  <a:solidFill>
                    <a:schemeClr val="lt1"/>
                  </a:solidFill>
                </a:rPr>
                <a:t>模型 </a:t>
              </a:r>
              <a:r>
                <a:rPr lang="en-US" altLang="zh-CN" dirty="0">
                  <a:solidFill>
                    <a:schemeClr val="lt1"/>
                  </a:solidFill>
                </a:rPr>
                <a:t>+ </a:t>
              </a:r>
              <a:r>
                <a:rPr lang="zh-CN" altLang="en-US" dirty="0">
                  <a:solidFill>
                    <a:schemeClr val="lt1"/>
                  </a:solidFill>
                </a:rPr>
                <a:t>链上智能合约构建 “数据读取→价格计算→套利执行→收益分配” 全自动闭环，无需人工干预</a:t>
              </a:r>
              <a:endParaRPr lang="zh-CN" alt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653669" y="2356800"/>
            <a:ext cx="2456083" cy="1676367"/>
            <a:chOff x="4962484" y="2303510"/>
            <a:chExt cx="2456083" cy="1676367"/>
          </a:xfrm>
        </p:grpSpPr>
        <p:sp>
          <p:nvSpPr>
            <p:cNvPr id="5" name="矩形: 圆角 4"/>
            <p:cNvSpPr/>
            <p:nvPr/>
          </p:nvSpPr>
          <p:spPr>
            <a:xfrm>
              <a:off x="4962484" y="2303510"/>
              <a:ext cx="2456083" cy="1676367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2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4991058" y="2403029"/>
              <a:ext cx="2427509" cy="147637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zh-CN" altLang="en-US" dirty="0">
                  <a:solidFill>
                    <a:schemeClr val="lt1"/>
                  </a:solidFill>
                </a:rPr>
                <a:t>通过 </a:t>
              </a:r>
              <a:r>
                <a:rPr lang="en-US" altLang="zh-CN" dirty="0">
                  <a:solidFill>
                    <a:schemeClr val="lt1"/>
                  </a:solidFill>
                </a:rPr>
                <a:t>AIFT </a:t>
              </a:r>
              <a:r>
                <a:rPr lang="zh-CN" altLang="en-US" dirty="0">
                  <a:solidFill>
                    <a:schemeClr val="lt1"/>
                  </a:solidFill>
                </a:rPr>
                <a:t>等代币化设计，让不同用户无需专业代码能力或高额资金，即可参与并分享套利收益</a:t>
              </a:r>
              <a:endParaRPr lang="zh-CN" alt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1165301" y="4468630"/>
            <a:ext cx="2289976" cy="46037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sz="2400" dirty="0">
                <a:solidFill>
                  <a:schemeClr val="accent1"/>
                </a:solidFill>
              </a:rPr>
              <a:t>直击三大痛点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9130021" y="4468630"/>
            <a:ext cx="1531951" cy="46037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sz="2400" dirty="0">
                <a:solidFill>
                  <a:schemeClr val="accent1"/>
                </a:solidFill>
              </a:rPr>
              <a:t>普惠金融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5369334" y="4468630"/>
            <a:ext cx="1453329" cy="46037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r>
              <a:rPr lang="zh-CN" altLang="en-US" sz="2400" dirty="0">
                <a:solidFill>
                  <a:schemeClr val="accent1"/>
                </a:solidFill>
              </a:rPr>
              <a:t>技术创新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wrap="square" lIns="0" tIns="0" rIns="0" bIns="0" rtlCol="0" anchor="b" anchorCtr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    </a:t>
            </a:r>
            <a:r>
              <a:rPr lang="zh-CN" altLang="en-US" dirty="0">
                <a:sym typeface="+mn-ea"/>
              </a:rPr>
              <a:t>项目核心价值主张</a:t>
            </a:r>
            <a:endParaRPr lang="zh-CN" altLang="en-US" dirty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2232978" y="1947545"/>
            <a:ext cx="7726045" cy="7632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2800"/>
              <a:t>AI-Driven On-chain Derivatives Pricing &amp; Arbitrage Protocol</a:t>
            </a:r>
            <a:endParaRPr lang="en-US" altLang="en-US" sz="2800"/>
          </a:p>
        </p:txBody>
      </p:sp>
      <p:sp>
        <p:nvSpPr>
          <p:cNvPr id="57" name="文本框 56"/>
          <p:cNvSpPr txBox="1"/>
          <p:nvPr>
            <p:custDataLst>
              <p:tags r:id="rId2"/>
            </p:custDataLst>
          </p:nvPr>
        </p:nvSpPr>
        <p:spPr>
          <a:xfrm flipH="1">
            <a:off x="2232978" y="2805430"/>
            <a:ext cx="7726045" cy="217360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indent="0" algn="ctr" fontAlgn="auto">
              <a:lnSpc>
                <a:spcPct val="140000"/>
              </a:lnSpc>
            </a:pPr>
            <a:r>
              <a:rPr lang="zh-CN" altLang="en-US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期待合作交流！</a:t>
            </a:r>
            <a:endParaRPr lang="zh-CN" altLang="en-US" sz="2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7" name="图形 15"/>
          <p:cNvSpPr/>
          <p:nvPr>
            <p:custDataLst>
              <p:tags r:id="rId3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4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5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6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104005" y="4304030"/>
            <a:ext cx="3983990" cy="67500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r>
              <a:rPr lang="en-US" altLang="zh-CN" sz="2000" kern="100" dirty="0">
                <a:effectLst/>
                <a:latin typeface="+mn-ea"/>
                <a:cs typeface="江城圆体 400W" panose="020B0500000000000000" pitchFamily="34" charset="-122"/>
              </a:rPr>
              <a:t>Email</a:t>
            </a:r>
            <a:r>
              <a:rPr lang="zh-CN" altLang="en-US" sz="2000" kern="100" dirty="0">
                <a:effectLst/>
                <a:latin typeface="+mn-ea"/>
                <a:cs typeface="江城圆体 400W" panose="020B0500000000000000" pitchFamily="34" charset="-122"/>
              </a:rPr>
              <a:t>：</a:t>
            </a:r>
            <a:r>
              <a:rPr lang="en-US" altLang="zh-CN" sz="2000" kern="100" dirty="0">
                <a:effectLst/>
                <a:latin typeface="+mn-ea"/>
                <a:cs typeface="江城圆体 400W" panose="020B0500000000000000" pitchFamily="34" charset="-122"/>
              </a:rPr>
              <a:t>lftphmatt@gmai.com</a:t>
            </a:r>
            <a:endParaRPr lang="en-US" altLang="zh-CN" sz="20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&#13;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3;第二级&#13;第三级&#13;第四级&#13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7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8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9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0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6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7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19"/>
</p:tagLst>
</file>

<file path=ppt/tags/tag1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919"/>
</p:tagLst>
</file>

<file path=ppt/tags/tag11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19"/>
  <p:tag name="KSO_WM_TEMPLATE_CATEGORY" val="custom"/>
  <p:tag name="KSO_WM_TEMPLATE_MASTER_TYPE" val="0"/>
  <p:tag name="KSO_WM_TEMPLATE_COLORSEQUENCE" val="1,2,3,1,2,3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11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CONTENT_GROUP_TYPE" val="contentchip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&#10;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8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0282"/>
</p:tagLst>
</file>

<file path=ppt/tags/tag12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282"/>
  <p:tag name="KSO_WM_SPECIAL_SOURCE" val="bdnull"/>
  <p:tag name="KSO_WM_TEMPLATE_THUMBS_INDEX" val="1、9"/>
</p:tagLst>
</file>

<file path=ppt/tags/tag12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82_1*b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CONTENT_GROUP_TYPE" val="contentchip"/>
  <p:tag name="KSO_WM_UNIT_PRESET_TEXT" val="WPS,a click to unlimited possibilities"/>
  <p:tag name="KSO_WM_UNIT_TEXT_TYPE" val="1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82_1*a*1"/>
  <p:tag name="KSO_WM_TEMPLATE_CATEGORY" val="custom"/>
  <p:tag name="KSO_WM_TEMPLATE_INDEX" val="20230282"/>
  <p:tag name="KSO_WM_UNIT_LAYERLEVEL" val="1"/>
  <p:tag name="KSO_WM_TAG_VERSION" val="1.0"/>
  <p:tag name="KSO_WM_BEAUTIFY_FLAG" val="#wm#"/>
  <p:tag name="KSO_WM_UNIT_CONTENT_GROUP_TYPE" val="contentchip"/>
  <p:tag name="KSO_WM_UNIT_PRESET_TEXT" val="单击此处&#10;添加文档标题"/>
  <p:tag name="KSO_WM_UNIT_TEXT_TYPE" val="1"/>
</p:tagLst>
</file>

<file path=ppt/tags/tag129.xml><?xml version="1.0" encoding="utf-8"?>
<p:tagLst xmlns:p="http://schemas.openxmlformats.org/presentationml/2006/main">
  <p:tag name="KSO_WM_SLIDE_ID" val="custom2023028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282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46.65&quot;,&quot;top&quot;:&quot;76.8&quot;,&quot;width&quot;:&quot;513.95&quot;,&quot;height&quot;:&quot;327.7&quot;}"/>
</p:tagLst>
</file>

<file path=ppt/tags/tag130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31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32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33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34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35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36.xml><?xml version="1.0" encoding="utf-8"?>
<p:tagLst xmlns:p="http://schemas.openxmlformats.org/presentationml/2006/main">
  <p:tag name="KSO_WM_UNIT_INDEX" val="1"/>
  <p:tag name="KSO_WM_UNIT_TYPE" val="a"/>
  <p:tag name="KSO_WM_UNIT_SUB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ID" val="_7*a*1"/>
</p:tagLst>
</file>

<file path=ppt/tags/tag13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3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4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46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4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4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49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ID" val="_2*a*1"/>
</p:tagLst>
</file>

<file path=ppt/tags/tag15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51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52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53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54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55.xml><?xml version="1.0" encoding="utf-8"?>
<p:tagLst xmlns:p="http://schemas.openxmlformats.org/presentationml/2006/main">
  <p:tag name="KSO_WM_UNIT_INDEX" val="1"/>
  <p:tag name="KSO_WM_UNIT_TYPE" val="a"/>
  <p:tag name="KSO_WM_UNIT_SUBTYPE" val="a"/>
  <p:tag name="KSO_WM_BEAUTIFY_FLAG" val="#wm#"/>
  <p:tag name="KSO_WM_UNIT_TEXT" val="      &#13;    当下核心痛点：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ID" val="_7*a*1"/>
</p:tagLst>
</file>

<file path=ppt/tags/tag156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57.xml><?xml version="1.0" encoding="utf-8"?>
<p:tagLst xmlns:p="http://schemas.openxmlformats.org/presentationml/2006/main">
  <p:tag name="KSO_WM_UNIT_INDEX" val="1"/>
  <p:tag name="KSO_WM_UNIT_TYPE" val="β"/>
  <p:tag name="KSO_WM_BEAUTIFY_FLAG" val="#wm#"/>
</p:tagLst>
</file>

<file path=ppt/tags/tag15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5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60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61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6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6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64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6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6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6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68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6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70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17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7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7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7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76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&#13;    核心逻辑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78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79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8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81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82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83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84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85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86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187.xml><?xml version="1.0" encoding="utf-8"?>
<p:tagLst xmlns:p="http://schemas.openxmlformats.org/presentationml/2006/main">
  <p:tag name="KSO_WM_UNIT_INDEX" val="1"/>
  <p:tag name="KSO_WM_UNIT_TYPE" val="a"/>
  <p:tag name="KSO_WM_UNIT_SUBTYPE" val="a"/>
  <p:tag name="KSO_WM_BEAUTIFY_FLAG" val="#wm#"/>
  <p:tag name="KSO_WM_UNIT_TEXT" val="&#13;    系统架构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ID" val="_7*a*1"/>
</p:tagLst>
</file>

<file path=ppt/tags/tag18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190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40492976_1*f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PRESET_TEXT" val="单击此处添加文本，简明扼要地阐述您的观点。根据需要酌情增减文字，以便观者准确地理解您传达的思想。单击添加文本，简明扼要地阐述您的观点。根据需要可酌情增减文字，以便观者准确地理解您传达的思想"/>
  <p:tag name="KSO_WM_UNIT_TEXT_TYPE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2976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rgbClr val="7B61FF"/>
      </a:dk1>
      <a:lt1>
        <a:srgbClr val="4ECDC4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2024.3.8【NO.09】-几何简约风主题模板">
      <a:dk1>
        <a:srgbClr val="333333"/>
      </a:dk1>
      <a:lt1>
        <a:sysClr val="window" lastClr="FFFFFF"/>
      </a:lt1>
      <a:dk2>
        <a:srgbClr val="001A3A"/>
      </a:dk2>
      <a:lt2>
        <a:srgbClr val="F7FAFF"/>
      </a:lt2>
      <a:accent1>
        <a:srgbClr val="016EFF"/>
      </a:accent1>
      <a:accent2>
        <a:srgbClr val="624AF0"/>
      </a:accent2>
      <a:accent3>
        <a:srgbClr val="9618F4"/>
      </a:accent3>
      <a:accent4>
        <a:srgbClr val="F7219B"/>
      </a:accent4>
      <a:accent5>
        <a:srgbClr val="F02836"/>
      </a:accent5>
      <a:accent6>
        <a:srgbClr val="EE672A"/>
      </a:accent6>
      <a:hlink>
        <a:srgbClr val="0026E5"/>
      </a:hlink>
      <a:folHlink>
        <a:srgbClr val="7E1FAD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93000">
              <a:schemeClr val="accent3"/>
            </a:gs>
            <a:gs pos="52000">
              <a:schemeClr val="accent1"/>
            </a:gs>
          </a:gsLst>
          <a:path path="circle">
            <a:fillToRect r="100000" b="100000"/>
          </a:path>
          <a:tileRect l="-100000" t="-100000"/>
        </a:gra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buClrTx/>
          <a:buSzTx/>
          <a:buFontTx/>
          <a:defRPr>
            <a:solidFill>
              <a:schemeClr val="lt1"/>
            </a:solidFill>
            <a:sym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0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自定义 118">
      <a:dk1>
        <a:srgbClr val="000000"/>
      </a:dk1>
      <a:lt1>
        <a:srgbClr val="FFFFFF"/>
      </a:lt1>
      <a:dk2>
        <a:srgbClr val="093495"/>
      </a:dk2>
      <a:lt2>
        <a:srgbClr val="ECF2FE"/>
      </a:lt2>
      <a:accent1>
        <a:srgbClr val="0F60FF"/>
      </a:accent1>
      <a:accent2>
        <a:srgbClr val="3A4EFE"/>
      </a:accent2>
      <a:accent3>
        <a:srgbClr val="653CFC"/>
      </a:accent3>
      <a:accent4>
        <a:srgbClr val="902AFB"/>
      </a:accent4>
      <a:accent5>
        <a:srgbClr val="BB18F9"/>
      </a:accent5>
      <a:accent6>
        <a:srgbClr val="E606F8"/>
      </a:accent6>
      <a:hlink>
        <a:srgbClr val="0563C1"/>
      </a:hlink>
      <a:folHlink>
        <a:srgbClr val="954F72"/>
      </a:folHlink>
    </a:clrScheme>
    <a:fontScheme name="自定义 6">
      <a:majorFont>
        <a:latin typeface="MiSans Heavy"/>
        <a:ea typeface="MiSans Heavy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2089</Words>
  <Application>WPS 演示</Application>
  <PresentationFormat>宽屏</PresentationFormat>
  <Paragraphs>209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宋体</vt:lpstr>
      <vt:lpstr>Wingdings</vt:lpstr>
      <vt:lpstr>Source Serif Pro</vt:lpstr>
      <vt:lpstr>Calibri</vt:lpstr>
      <vt:lpstr>黑体</vt:lpstr>
      <vt:lpstr>Source Serif Pro ExtraLight</vt:lpstr>
      <vt:lpstr>等线</vt:lpstr>
      <vt:lpstr>幼圆</vt:lpstr>
      <vt:lpstr>华文琥珀</vt:lpstr>
      <vt:lpstr>微软雅黑</vt:lpstr>
      <vt:lpstr>Arial Unicode MS</vt:lpstr>
      <vt:lpstr>等线 Light</vt:lpstr>
      <vt:lpstr>Wingdings</vt:lpstr>
      <vt:lpstr>江城圆体 400W</vt:lpstr>
      <vt:lpstr>MiSans</vt:lpstr>
      <vt:lpstr>MiSans Heavy</vt:lpstr>
      <vt:lpstr>Segoe Print</vt:lpstr>
      <vt:lpstr>Office 主题​​</vt:lpstr>
      <vt:lpstr>1_Office 主题​​</vt:lpstr>
      <vt:lpstr>Office 主题</vt:lpstr>
      <vt:lpstr>链上AI衍生品定价套利协议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三层收益分配：可持续生态设计</vt:lpstr>
      <vt:lpstr>PowerPoint 演示文稿</vt:lpstr>
      <vt:lpstr>PowerPoint 演示文稿</vt:lpstr>
      <vt:lpstr>AI-Driven On-chain Derivatives Pricing &amp; Arbitrage Protocol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Tokisaki Yassusi</dc:creator>
  <cp:lastModifiedBy>ㅤ左旋六螺苯</cp:lastModifiedBy>
  <cp:revision>4</cp:revision>
  <dcterms:created xsi:type="dcterms:W3CDTF">2025-10-18T19:33:00Z</dcterms:created>
  <dcterms:modified xsi:type="dcterms:W3CDTF">2025-10-20T09:06:29Z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C75A2410EDAB47FC97F7AAF1CB579B0B_13</vt:lpwstr>
  </property>
  <property fmtid="{D5CDD505-2E9C-101B-9397-08002B2CF9AE}" pid="3" name="KSOProductBuildVer">
    <vt:lpwstr>2052-12.1.0.23125</vt:lpwstr>
  </property>
</Properties>
</file>